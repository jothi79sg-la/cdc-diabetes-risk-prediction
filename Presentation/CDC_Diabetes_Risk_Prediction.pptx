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322" r:id="rId5"/>
    <p:sldId id="354" r:id="rId6"/>
    <p:sldId id="347" r:id="rId7"/>
    <p:sldId id="320" r:id="rId8"/>
    <p:sldId id="335" r:id="rId9"/>
    <p:sldId id="348" r:id="rId10"/>
    <p:sldId id="336" r:id="rId11"/>
    <p:sldId id="349" r:id="rId12"/>
    <p:sldId id="350" r:id="rId13"/>
    <p:sldId id="342" r:id="rId14"/>
    <p:sldId id="353" r:id="rId15"/>
    <p:sldId id="352" r:id="rId16"/>
    <p:sldId id="343" r:id="rId17"/>
    <p:sldId id="344" r:id="rId18"/>
    <p:sldId id="345" r:id="rId19"/>
    <p:sldId id="346" r:id="rId20"/>
    <p:sldId id="356" r:id="rId21"/>
    <p:sldId id="355" r:id="rId22"/>
    <p:sldId id="31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E2F9"/>
    <a:srgbClr val="D777B0"/>
    <a:srgbClr val="800080"/>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59" d="100"/>
          <a:sy n="59" d="100"/>
        </p:scale>
        <p:origin x="964" y="5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BE6205E-B305-4B90-9534-3C5E99A0275E}" type="datetimeFigureOut">
              <a:rPr lang="en-US" smtClean="0"/>
              <a:t>9/19/2026</a:t>
            </a:fld>
            <a:endParaRPr lang="en-US" dirty="0"/>
          </a:p>
        </p:txBody>
      </p:sp>
      <p:sp>
        <p:nvSpPr>
          <p:cNvPr id="4" name="Footer Placeholder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0AC623C-86E0-4A85-83FB-F4A716956FD4}" type="slidenum">
              <a:rPr lang="en-US" smtClean="0"/>
              <a:t>‹#›</a:t>
            </a:fld>
            <a:endParaRPr lang="en-US"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3722F1-E430-42A1-A473-1759336AECCE}" type="datetimeFigureOut">
              <a:rPr lang="en-US" smtClean="0"/>
              <a:t>9/19/2026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7D7554-D10C-4E29-B8E6-BB7111FA614F}" type="slidenum">
              <a:rPr lang="en-US" smtClean="0"/>
              <a:t>‹#›</a:t>
            </a:fld>
            <a:endParaRPr lang="en-US"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37D7554-D10C-4E29-B8E6-BB7111FA614F}" type="slidenum">
              <a:rPr lang="en-US" smtClean="0"/>
              <a:t>10</a:t>
            </a:fld>
            <a:endParaRPr lang="en-US" dirty="0"/>
          </a:p>
        </p:txBody>
      </p:sp>
    </p:spTree>
    <p:extLst>
      <p:ext uri="{BB962C8B-B14F-4D97-AF65-F5344CB8AC3E}">
        <p14:creationId xmlns:p14="http://schemas.microsoft.com/office/powerpoint/2010/main" val="350740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37D7554-D10C-4E29-B8E6-BB7111FA614F}" type="slidenum">
              <a:rPr lang="en-US" smtClean="0"/>
              <a:t>12</a:t>
            </a:fld>
            <a:endParaRPr lang="en-US" dirty="0"/>
          </a:p>
        </p:txBody>
      </p:sp>
    </p:spTree>
    <p:extLst>
      <p:ext uri="{BB962C8B-B14F-4D97-AF65-F5344CB8AC3E}">
        <p14:creationId xmlns:p14="http://schemas.microsoft.com/office/powerpoint/2010/main" val="28362461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37D7554-D10C-4E29-B8E6-BB7111FA614F}" type="slidenum">
              <a:rPr lang="en-US" smtClean="0"/>
              <a:t>13</a:t>
            </a:fld>
            <a:endParaRPr lang="en-US" dirty="0"/>
          </a:p>
        </p:txBody>
      </p:sp>
    </p:spTree>
    <p:extLst>
      <p:ext uri="{BB962C8B-B14F-4D97-AF65-F5344CB8AC3E}">
        <p14:creationId xmlns:p14="http://schemas.microsoft.com/office/powerpoint/2010/main" val="3740095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anchor="b">
            <a:normAutofit/>
          </a:bodyPr>
          <a:lstStyle>
            <a:lvl1pPr>
              <a:defRPr sz="6000">
                <a:solidFill>
                  <a:schemeClr val="bg1"/>
                </a:solidFill>
              </a:defRPr>
            </a:lvl1pPr>
          </a:lstStyle>
          <a:p>
            <a:r>
              <a:rPr lang="en-US" dirty="0"/>
              <a:t>Click to add title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anchor="ctr">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Subtitl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anchor="b">
            <a:norm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a:normAutofit/>
          </a:bodyPr>
          <a:lstStyle>
            <a:lvl1pPr marL="0" indent="0" algn="ctr">
              <a:buNone/>
              <a:defRPr sz="2000"/>
            </a:lvl1pPr>
          </a:lstStyle>
          <a:p>
            <a:r>
              <a:rPr lang="en-US"/>
              <a:t>Click icon to add picture</a:t>
            </a:r>
            <a:endParaRPr lang="en-US" dirty="0"/>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anchor="t">
            <a:normAutofit/>
          </a:bodyPr>
          <a:lstStyle>
            <a:lvl1pPr marL="0" indent="0" algn="l">
              <a:lnSpc>
                <a:spcPct val="80000"/>
              </a:lnSpc>
              <a:spcBef>
                <a:spcPts val="0"/>
              </a:spcBef>
              <a:buNone/>
              <a:defRPr sz="2000" spc="0" baseline="0">
                <a:solidFill>
                  <a:schemeClr val="tx1"/>
                </a:solidFill>
                <a:latin typeface="+mn-lt"/>
              </a:defRPr>
            </a:lvl1pPr>
          </a:lstStyle>
          <a:p>
            <a:pPr lvl="0"/>
            <a:r>
              <a:rPr lang="en-US" dirty="0"/>
              <a:t>Click to add subtitle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a:normAutofit/>
          </a:bodyPr>
          <a:lstStyle>
            <a:lvl1pPr marL="228600" indent="-228600">
              <a:lnSpc>
                <a:spcPct val="100000"/>
              </a:lnSpc>
              <a:spcBef>
                <a:spcPts val="0"/>
              </a:spcBef>
              <a:spcAft>
                <a:spcPts val="1200"/>
              </a:spcAft>
              <a:buFont typeface="Arial" panose="020B0604020202020204" pitchFamily="34" charset="0"/>
              <a:buChar char="•"/>
              <a:defRPr sz="2000"/>
            </a:lvl1pPr>
            <a:lvl2pPr marL="685800" indent="-228600">
              <a:lnSpc>
                <a:spcPct val="100000"/>
              </a:lnSpc>
              <a:spcBef>
                <a:spcPts val="0"/>
              </a:spcBef>
              <a:spcAft>
                <a:spcPts val="1200"/>
              </a:spcAft>
              <a:buFont typeface="Arial" panose="020B0604020202020204" pitchFamily="34" charset="0"/>
              <a:buChar char="•"/>
              <a:defRPr sz="2000"/>
            </a:lvl2pPr>
            <a:lvl3pPr marL="1143000" indent="-228600">
              <a:spcBef>
                <a:spcPts val="0"/>
              </a:spcBef>
              <a:spcAft>
                <a:spcPts val="1200"/>
              </a:spcAft>
              <a:buFont typeface="Arial" panose="020B0604020202020204" pitchFamily="34" charset="0"/>
              <a:buChar char="•"/>
              <a:defRPr sz="2000"/>
            </a:lvl3pPr>
            <a:lvl4pPr marL="1600200" indent="-228600">
              <a:spcBef>
                <a:spcPts val="0"/>
              </a:spcBef>
              <a:spcAft>
                <a:spcPts val="1200"/>
              </a:spcAft>
              <a:buFont typeface="Arial" panose="020B0604020202020204" pitchFamily="34" charset="0"/>
              <a:buChar char="•"/>
              <a:defRPr sz="2000"/>
            </a:lvl4pPr>
            <a:lvl5pPr marL="2057400" indent="-2286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6"/>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anchor="b"/>
          <a:lstStyle>
            <a:lvl1pPr algn="ctr">
              <a:defRPr>
                <a:solidFill>
                  <a:schemeClr val="bg1"/>
                </a:solidFill>
              </a:defRPr>
            </a:lvl1pPr>
          </a:lstStyle>
          <a:p>
            <a:r>
              <a:rPr lang="en-US" dirty="0"/>
              <a:t>Click to add title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anchor="t">
            <a:normAutofit/>
          </a:bodyPr>
          <a:lstStyle>
            <a:lvl1pPr marL="0" indent="0" algn="ctr">
              <a:lnSpc>
                <a:spcPct val="80000"/>
              </a:lnSpc>
              <a:spcBef>
                <a:spcPts val="0"/>
              </a:spcBef>
              <a:buNone/>
              <a:defRPr sz="2000" spc="0" baseline="0">
                <a:solidFill>
                  <a:schemeClr val="bg1"/>
                </a:solidFill>
                <a:latin typeface="+mn-lt"/>
              </a:defRPr>
            </a:lvl1pPr>
          </a:lstStyle>
          <a:p>
            <a:pPr lvl="0"/>
            <a:r>
              <a:rPr lang="en-US" dirty="0"/>
              <a:t>Click to add subtitle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2" name="Content Placeholder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4" name="Content Placeholder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a:normAutofit/>
          </a:bodyPr>
          <a:lstStyle>
            <a:lvl1pPr marL="320040" indent="-320040">
              <a:lnSpc>
                <a:spcPct val="100000"/>
              </a:lnSpc>
              <a:spcBef>
                <a:spcPts val="0"/>
              </a:spcBef>
              <a:spcAft>
                <a:spcPts val="1200"/>
              </a:spcAft>
              <a:buFont typeface="+mj-lt"/>
              <a:buAutoNum type="arabicPeriod"/>
              <a:defRPr sz="2000"/>
            </a:lvl1pPr>
            <a:lvl2pPr marL="457200" indent="-320040">
              <a:lnSpc>
                <a:spcPct val="100000"/>
              </a:lnSpc>
              <a:spcBef>
                <a:spcPts val="1000"/>
              </a:spcBef>
              <a:spcAft>
                <a:spcPts val="1200"/>
              </a:spcAft>
              <a:buFont typeface="+mj-lt"/>
              <a:buAutoNum type="alphaLcPeriod"/>
              <a:defRPr sz="2000"/>
            </a:lvl2pPr>
            <a:lvl3pPr marL="914400" indent="-320040">
              <a:spcBef>
                <a:spcPts val="1000"/>
              </a:spcBef>
              <a:spcAft>
                <a:spcPts val="1200"/>
              </a:spcAft>
              <a:buFont typeface="+mj-lt"/>
              <a:buAutoNum type="arabicParenR"/>
              <a:defRPr sz="2000"/>
            </a:lvl3pPr>
            <a:lvl4pPr marL="1371600" indent="-320040">
              <a:spcBef>
                <a:spcPts val="1000"/>
              </a:spcBef>
              <a:spcAft>
                <a:spcPts val="1200"/>
              </a:spcAft>
              <a:buFont typeface="+mj-lt"/>
              <a:buAutoNum type="alphaLcParenR"/>
              <a:defRPr sz="2000"/>
            </a:lvl4pPr>
            <a:lvl5pPr marL="1828800" indent="-320040">
              <a:spcBef>
                <a:spcPts val="1000"/>
              </a:spcBef>
              <a:spcAft>
                <a:spcPts val="1200"/>
              </a:spcAft>
              <a:buFont typeface="+mj-lt"/>
              <a:buAutoNum type="romanLcPeriod"/>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a:normAutofit/>
          </a:bodyPr>
          <a:lstStyle>
            <a:lvl1pPr marL="0" indent="0">
              <a:lnSpc>
                <a:spcPct val="100000"/>
              </a:lnSpc>
              <a:spcBef>
                <a:spcPts val="1000"/>
              </a:spcBef>
              <a:spcAft>
                <a:spcPts val="1200"/>
              </a:spcAft>
              <a:buNone/>
              <a:defRPr sz="2000"/>
            </a:lvl1pPr>
            <a:lvl2pPr marL="228600" indent="-228600">
              <a:lnSpc>
                <a:spcPct val="100000"/>
              </a:lnSpc>
              <a:spcBef>
                <a:spcPts val="1000"/>
              </a:spcBef>
              <a:spcAft>
                <a:spcPts val="1200"/>
              </a:spcAft>
              <a:buFont typeface="Arial" panose="020B0604020202020204" pitchFamily="34" charset="0"/>
              <a:buChar char="•"/>
              <a:defRPr sz="2000"/>
            </a:lvl2pPr>
            <a:lvl3pPr marL="685800" indent="-228600">
              <a:spcBef>
                <a:spcPts val="1000"/>
              </a:spcBef>
              <a:spcAft>
                <a:spcPts val="1200"/>
              </a:spcAft>
              <a:buFont typeface="Arial" panose="020B0604020202020204" pitchFamily="34" charset="0"/>
              <a:buChar char="•"/>
              <a:defRPr sz="2000"/>
            </a:lvl3pPr>
            <a:lvl4pPr marL="1143000" indent="-228600">
              <a:spcBef>
                <a:spcPts val="1000"/>
              </a:spcBef>
              <a:spcAft>
                <a:spcPts val="1200"/>
              </a:spcAft>
              <a:buFont typeface="Arial" panose="020B0604020202020204" pitchFamily="34" charset="0"/>
              <a:buChar char="•"/>
              <a:defRPr sz="2000"/>
            </a:lvl4pPr>
            <a:lvl5pPr marL="1600200" indent="-2286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icture and Content">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Picture Placeholder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a:normAutofit/>
          </a:bodyPr>
          <a:lstStyle>
            <a:lvl1pPr marL="0" indent="0" algn="ctr">
              <a:buNone/>
              <a:defRPr sz="2000"/>
            </a:lvl1pPr>
          </a:lstStyle>
          <a:p>
            <a:r>
              <a:rPr lang="en-US"/>
              <a:t>Click icon to add picture</a:t>
            </a:r>
            <a:endParaRPr lang="en-US" dirty="0"/>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a:normAutofit/>
          </a:bodyPr>
          <a:lstStyle>
            <a:lvl1pPr marL="0" indent="0">
              <a:lnSpc>
                <a:spcPct val="100000"/>
              </a:lnSpc>
              <a:spcBef>
                <a:spcPts val="1000"/>
              </a:spcBef>
              <a:spcAft>
                <a:spcPts val="1200"/>
              </a:spcAft>
              <a:buNone/>
              <a:defRPr sz="2000"/>
            </a:lvl1pPr>
            <a:lvl2pPr marL="800100" indent="-342900">
              <a:lnSpc>
                <a:spcPct val="100000"/>
              </a:lnSpc>
              <a:spcBef>
                <a:spcPts val="1000"/>
              </a:spcBef>
              <a:spcAft>
                <a:spcPts val="1200"/>
              </a:spcAft>
              <a:buFont typeface="Arial" panose="020B0604020202020204" pitchFamily="34" charset="0"/>
              <a:buChar char="•"/>
              <a:defRPr sz="2000"/>
            </a:lvl2pPr>
            <a:lvl3pPr marL="1257300" indent="-342900">
              <a:spcBef>
                <a:spcPts val="1000"/>
              </a:spcBef>
              <a:spcAft>
                <a:spcPts val="1200"/>
              </a:spcAft>
              <a:buFont typeface="Arial" panose="020B0604020202020204" pitchFamily="34" charset="0"/>
              <a:buChar char="•"/>
              <a:defRPr sz="2000"/>
            </a:lvl3pPr>
            <a:lvl4pPr marL="1714500" indent="-342900">
              <a:spcBef>
                <a:spcPts val="1000"/>
              </a:spcBef>
              <a:spcAft>
                <a:spcPts val="1200"/>
              </a:spcAft>
              <a:buFont typeface="Arial" panose="020B0604020202020204" pitchFamily="34" charset="0"/>
              <a:buChar char="•"/>
              <a:defRPr sz="2000"/>
            </a:lvl4pPr>
            <a:lvl5pPr marL="2171700" indent="-342900">
              <a:spcBef>
                <a:spcPts val="100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12" name="Content Placeholder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a:normAutofit/>
          </a:bodyPr>
          <a:lstStyle>
            <a:lvl1pPr marL="0" indent="0">
              <a:lnSpc>
                <a:spcPct val="100000"/>
              </a:lnSpc>
              <a:spcBef>
                <a:spcPts val="0"/>
              </a:spcBef>
              <a:spcAft>
                <a:spcPts val="1200"/>
              </a:spcAft>
              <a:buNone/>
              <a:defRPr sz="2000"/>
            </a:lvl1pPr>
            <a:lvl2pPr marL="800100" indent="-342900">
              <a:lnSpc>
                <a:spcPct val="100000"/>
              </a:lnSpc>
              <a:spcBef>
                <a:spcPts val="0"/>
              </a:spcBef>
              <a:spcAft>
                <a:spcPts val="1200"/>
              </a:spcAft>
              <a:buFont typeface="Arial" panose="020B0604020202020204" pitchFamily="34" charset="0"/>
              <a:buChar char="•"/>
              <a:defRPr sz="2000"/>
            </a:lvl2pPr>
            <a:lvl3pPr marL="1257300" indent="-342900">
              <a:spcBef>
                <a:spcPts val="0"/>
              </a:spcBef>
              <a:spcAft>
                <a:spcPts val="1200"/>
              </a:spcAft>
              <a:buFont typeface="Arial" panose="020B0604020202020204" pitchFamily="34" charset="0"/>
              <a:buChar char="•"/>
              <a:defRPr sz="2000"/>
            </a:lvl3pPr>
            <a:lvl4pPr marL="1714500" indent="-342900">
              <a:spcBef>
                <a:spcPts val="0"/>
              </a:spcBef>
              <a:spcAft>
                <a:spcPts val="1200"/>
              </a:spcAft>
              <a:buFont typeface="Arial" panose="020B0604020202020204" pitchFamily="34" charset="0"/>
              <a:buChar char="•"/>
              <a:defRPr sz="2000"/>
            </a:lvl4pPr>
            <a:lvl5pPr marL="2171700" indent="-342900">
              <a:spcBef>
                <a:spcPts val="0"/>
              </a:spcBef>
              <a:spcAft>
                <a:spcPts val="1200"/>
              </a:spcAft>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able Placeholder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a:normAutofit/>
          </a:bodyPr>
          <a:lstStyle>
            <a:lvl1pPr>
              <a:defRPr sz="2000"/>
            </a:lvl1pPr>
          </a:lstStyle>
          <a:p>
            <a:r>
              <a:rPr lang="en-US"/>
              <a:t>Click icon to add table</a:t>
            </a:r>
            <a:endParaRPr lang="en-US"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8" name="Content Placeholder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a:normAutofit/>
          </a:bodyPr>
          <a:lstStyle>
            <a:lvl1pPr>
              <a:lnSpc>
                <a:spcPct val="100000"/>
              </a:lnSpc>
              <a:spcAft>
                <a:spcPts val="600"/>
              </a:spcAft>
              <a:defRPr sz="2000"/>
            </a:lvl1pPr>
            <a:lvl2pPr>
              <a:lnSpc>
                <a:spcPct val="100000"/>
              </a:lnSpc>
              <a:spcAft>
                <a:spcPts val="600"/>
              </a:spcAft>
              <a:defRPr sz="2000"/>
            </a:lvl2pPr>
            <a:lvl3pPr>
              <a:lnSpc>
                <a:spcPct val="100000"/>
              </a:lnSpc>
              <a:spcBef>
                <a:spcPts val="1000"/>
              </a:spcBef>
              <a:spcAft>
                <a:spcPts val="600"/>
              </a:spcAft>
              <a:defRPr sz="2000"/>
            </a:lvl3pPr>
            <a:lvl4pPr>
              <a:lnSpc>
                <a:spcPct val="100000"/>
              </a:lnSpc>
              <a:spcAft>
                <a:spcPts val="1200"/>
              </a:spcAft>
              <a:defRPr sz="20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a:normAutofit/>
          </a:bodyPr>
          <a:lstStyle>
            <a:lvl1pPr marL="0" indent="0">
              <a:lnSpc>
                <a:spcPct val="100000"/>
              </a:lnSpc>
              <a:spcAft>
                <a:spcPts val="600"/>
              </a:spcAft>
              <a:buNone/>
              <a:defRPr sz="2000"/>
            </a:lvl1pPr>
            <a:lvl2pPr marL="800100" indent="-342900">
              <a:lnSpc>
                <a:spcPct val="100000"/>
              </a:lnSpc>
              <a:spcAft>
                <a:spcPts val="600"/>
              </a:spcAft>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a:normAutofit/>
          </a:bodyPr>
          <a:lstStyle>
            <a:lvl1pPr>
              <a:defRPr sz="3600"/>
            </a:lvl1pPr>
          </a:lstStyle>
          <a:p>
            <a:r>
              <a:rPr lang="en-US" dirty="0"/>
              <a:t>Click to add title</a:t>
            </a:r>
          </a:p>
        </p:txBody>
      </p:sp>
      <p:sp>
        <p:nvSpPr>
          <p:cNvPr id="9" name="Table Placeholder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a:normAutofit/>
          </a:bodyPr>
          <a:lstStyle>
            <a:lvl1pPr>
              <a:defRPr sz="2400"/>
            </a:lvl1pPr>
          </a:lstStyle>
          <a:p>
            <a:r>
              <a:rPr lang="en-US"/>
              <a:t>Click icon to add table</a:t>
            </a:r>
            <a:endParaRPr lang="en-US" dirty="0"/>
          </a:p>
        </p:txBody>
      </p:sp>
      <p:sp>
        <p:nvSpPr>
          <p:cNvPr id="2" name="Slide Number Placeholder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anchor="b">
            <a:normAutofit/>
          </a:bodyPr>
          <a:lstStyle>
            <a:lvl1pPr>
              <a:defRPr sz="6000">
                <a:solidFill>
                  <a:schemeClr val="bg1"/>
                </a:solidFill>
              </a:defRPr>
            </a:lvl1pPr>
          </a:lstStyle>
          <a:p>
            <a:r>
              <a:rPr lang="en-US" dirty="0"/>
              <a:t>Click to add title</a:t>
            </a:r>
          </a:p>
        </p:txBody>
      </p:sp>
      <p:sp>
        <p:nvSpPr>
          <p:cNvPr id="10" name="Content Placeholder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anchor="ctr">
            <a:normAutofit/>
          </a:bodyPr>
          <a:lstStyle>
            <a:lvl1pPr marL="0" indent="0">
              <a:lnSpc>
                <a:spcPct val="100000"/>
              </a:lnSpc>
              <a:spcBef>
                <a:spcPts val="0"/>
              </a:spcBef>
              <a:spcAft>
                <a:spcPts val="1200"/>
              </a:spcAft>
              <a:buNone/>
              <a:defRP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437483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495588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5" name="Footer Placeholder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b="0" cap="all" spc="150" baseline="0">
                <a:solidFill>
                  <a:schemeClr val="bg2">
                    <a:lumMod val="50000"/>
                  </a:schemeClr>
                </a:solidFill>
                <a:latin typeface="Univers Light" panose="020B0403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sz="1200" b="1" spc="150" baseline="0">
                <a:solidFill>
                  <a:schemeClr val="tx1"/>
                </a:solidFill>
                <a:latin typeface="+mn-lt"/>
              </a:defRPr>
            </a:lvl1pPr>
          </a:lstStyle>
          <a:p>
            <a:fld id="{18D65601-5AE2-46FC-B138-694DDD2B510D}" type="slidenum">
              <a:rPr lang="en-US" smtClean="0"/>
              <a:pPr/>
              <a:t>‹#›</a:t>
            </a:fld>
            <a:endParaRPr lang="en-US"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54C9E-20FB-B999-9303-C71D1334BAD7}"/>
              </a:ext>
            </a:extLst>
          </p:cNvPr>
          <p:cNvSpPr>
            <a:spLocks noGrp="1"/>
          </p:cNvSpPr>
          <p:nvPr>
            <p:ph type="title"/>
          </p:nvPr>
        </p:nvSpPr>
        <p:spPr>
          <a:xfrm>
            <a:off x="1186543" y="2280735"/>
            <a:ext cx="6509657" cy="706305"/>
          </a:xfrm>
        </p:spPr>
        <p:txBody>
          <a:bodyPr>
            <a:normAutofit/>
          </a:bodyPr>
          <a:lstStyle/>
          <a:p>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Data Set :  </a:t>
            </a:r>
            <a:r>
              <a:rPr lang="en-SG" sz="2400" dirty="0">
                <a:solidFill>
                  <a:schemeClr val="tx1"/>
                </a:solidFill>
              </a:rPr>
              <a:t>CDC Diabetes Health Indicators</a:t>
            </a: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8CC8D898-F7B9-1CE8-184D-0AB9B04DE316}"/>
              </a:ext>
            </a:extLst>
          </p:cNvPr>
          <p:cNvSpPr txBox="1"/>
          <p:nvPr/>
        </p:nvSpPr>
        <p:spPr>
          <a:xfrm>
            <a:off x="1186543" y="466956"/>
            <a:ext cx="9535885" cy="830997"/>
          </a:xfrm>
          <a:prstGeom prst="rect">
            <a:avLst/>
          </a:prstGeom>
          <a:noFill/>
        </p:spPr>
        <p:txBody>
          <a:bodyPr wrap="square">
            <a:spAutoFit/>
          </a:bodyPr>
          <a:lstStyle/>
          <a:p>
            <a:r>
              <a:rPr lang="en-SG" sz="2400" b="1" i="1" dirty="0"/>
              <a:t>Predicting Diabetes Risk Using Machine Learning to Support Early Healthcare Intervention</a:t>
            </a:r>
            <a:endParaRPr lang="en-SG" sz="2400" b="1" dirty="0"/>
          </a:p>
        </p:txBody>
      </p:sp>
      <p:sp>
        <p:nvSpPr>
          <p:cNvPr id="9" name="TextBox 8">
            <a:extLst>
              <a:ext uri="{FF2B5EF4-FFF2-40B4-BE49-F238E27FC236}">
                <a16:creationId xmlns:a16="http://schemas.microsoft.com/office/drawing/2014/main" id="{326CD039-CE45-BF29-562F-944821E54827}"/>
              </a:ext>
            </a:extLst>
          </p:cNvPr>
          <p:cNvSpPr txBox="1"/>
          <p:nvPr/>
        </p:nvSpPr>
        <p:spPr>
          <a:xfrm>
            <a:off x="1186544" y="3726106"/>
            <a:ext cx="6867798" cy="2000548"/>
          </a:xfrm>
          <a:prstGeom prst="rect">
            <a:avLst/>
          </a:prstGeom>
          <a:noFill/>
        </p:spPr>
        <p:txBody>
          <a:bodyPr wrap="square">
            <a:spAutoFit/>
          </a:bodyPr>
          <a:lstStyle/>
          <a:p>
            <a:r>
              <a:rPr lang="en-US" sz="2400" b="1" dirty="0"/>
              <a:t>Objective:</a:t>
            </a:r>
            <a:r>
              <a:rPr lang="en-SG" sz="2000" dirty="0"/>
              <a:t>To develop and evaluate a machine learning classification model that predicts diabetes risk using demographic, lifestyle, and health-related indicators, and to identify key factors contributing to the predictions so that healthcare programme managers can prioritise high-risk individuals for screening and preventive interventions.</a:t>
            </a:r>
          </a:p>
        </p:txBody>
      </p:sp>
      <p:sp>
        <p:nvSpPr>
          <p:cNvPr id="11" name="TextBox 10">
            <a:extLst>
              <a:ext uri="{FF2B5EF4-FFF2-40B4-BE49-F238E27FC236}">
                <a16:creationId xmlns:a16="http://schemas.microsoft.com/office/drawing/2014/main" id="{F84C19DE-1526-0488-4C84-C3122B1C6664}"/>
              </a:ext>
            </a:extLst>
          </p:cNvPr>
          <p:cNvSpPr txBox="1"/>
          <p:nvPr/>
        </p:nvSpPr>
        <p:spPr>
          <a:xfrm>
            <a:off x="9353005" y="5683158"/>
            <a:ext cx="2709455" cy="707886"/>
          </a:xfrm>
          <a:prstGeom prst="rect">
            <a:avLst/>
          </a:prstGeom>
          <a:noFill/>
        </p:spPr>
        <p:txBody>
          <a:bodyPr wrap="square">
            <a:spAutoFit/>
          </a:bodyPr>
          <a:lstStyle/>
          <a:p>
            <a:r>
              <a:rPr lang="en-SG" sz="2000" b="1" dirty="0">
                <a:solidFill>
                  <a:schemeClr val="bg1"/>
                </a:solidFill>
              </a:rPr>
              <a:t>Prepared By:</a:t>
            </a:r>
            <a:r>
              <a:rPr lang="en-SG" sz="2000" dirty="0">
                <a:solidFill>
                  <a:schemeClr val="bg1"/>
                </a:solidFill>
              </a:rPr>
              <a:t> </a:t>
            </a:r>
          </a:p>
          <a:p>
            <a:r>
              <a:rPr lang="en-SG" sz="2000" dirty="0">
                <a:solidFill>
                  <a:schemeClr val="bg1"/>
                </a:solidFill>
              </a:rPr>
              <a:t>Murugaiyan Nagajothi</a:t>
            </a:r>
          </a:p>
        </p:txBody>
      </p:sp>
      <p:pic>
        <p:nvPicPr>
          <p:cNvPr id="10" name="Picture 9">
            <a:extLst>
              <a:ext uri="{FF2B5EF4-FFF2-40B4-BE49-F238E27FC236}">
                <a16:creationId xmlns:a16="http://schemas.microsoft.com/office/drawing/2014/main" id="{0EA53312-19F0-53F3-1A8C-09BFAE57FD4F}"/>
              </a:ext>
            </a:extLst>
          </p:cNvPr>
          <p:cNvPicPr>
            <a:picLocks noChangeAspect="1"/>
          </p:cNvPicPr>
          <p:nvPr/>
        </p:nvPicPr>
        <p:blipFill>
          <a:blip r:embed="rId2"/>
          <a:stretch>
            <a:fillRect/>
          </a:stretch>
        </p:blipFill>
        <p:spPr>
          <a:xfrm>
            <a:off x="8054341" y="1730817"/>
            <a:ext cx="4008119" cy="3121817"/>
          </a:xfrm>
          <a:prstGeom prst="rect">
            <a:avLst/>
          </a:prstGeom>
        </p:spPr>
      </p:pic>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17F918A3-4420-FC48-213E-571FBE315F2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683B0FF-699F-83C6-5A53-1B440572B13D}"/>
              </a:ext>
            </a:extLst>
          </p:cNvPr>
          <p:cNvSpPr>
            <a:spLocks noGrp="1"/>
          </p:cNvSpPr>
          <p:nvPr>
            <p:ph sz="quarter" idx="12"/>
          </p:nvPr>
        </p:nvSpPr>
        <p:spPr>
          <a:xfrm>
            <a:off x="194310" y="548639"/>
            <a:ext cx="11715750" cy="6227063"/>
          </a:xfrm>
          <a:ln w="19050">
            <a:solidFill>
              <a:srgbClr val="7030A0"/>
            </a:solidFill>
          </a:ln>
        </p:spPr>
        <p:txBody>
          <a:bodyPr>
            <a:normAutofit/>
          </a:bodyPr>
          <a:lstStyle/>
          <a:p>
            <a:pPr marL="228600" indent="-228600">
              <a:lnSpc>
                <a:spcPct val="100000"/>
              </a:lnSpc>
              <a:spcBef>
                <a:spcPts val="0"/>
              </a:spcBef>
              <a:spcAft>
                <a:spcPts val="1200"/>
              </a:spcAft>
              <a:buFont typeface="Arial" panose="020B0604020202020204" pitchFamily="34" charset="0"/>
              <a:buChar char="•"/>
            </a:pPr>
            <a:r>
              <a:rPr lang="en-SG" sz="2100" b="1" dirty="0">
                <a:solidFill>
                  <a:srgbClr val="002060"/>
                </a:solidFill>
                <a:latin typeface="Calibri" panose="020F0502020204030204" pitchFamily="34" charset="0"/>
                <a:ea typeface="Calibri" panose="020F0502020204030204" pitchFamily="34" charset="0"/>
                <a:cs typeface="Calibri" panose="020F0502020204030204" pitchFamily="34" charset="0"/>
              </a:rPr>
              <a:t>Project Background:</a:t>
            </a:r>
          </a:p>
          <a:p>
            <a:pPr marL="228600" indent="-228600">
              <a:lnSpc>
                <a:spcPct val="100000"/>
              </a:lnSpc>
              <a:spcBef>
                <a:spcPts val="0"/>
              </a:spcBef>
              <a:spcAft>
                <a:spcPts val="1200"/>
              </a:spcAft>
              <a:buFont typeface="Arial" panose="020B0604020202020204" pitchFamily="34" charset="0"/>
              <a:buChar char="•"/>
            </a:pPr>
            <a:r>
              <a:rPr lang="en-SG" dirty="0">
                <a:latin typeface="Calibri" panose="020F0502020204030204" pitchFamily="34" charset="0"/>
                <a:ea typeface="Calibri" panose="020F0502020204030204" pitchFamily="34" charset="0"/>
                <a:cs typeface="Calibri" panose="020F0502020204030204" pitchFamily="34" charset="0"/>
              </a:rPr>
              <a:t>Diabetes is one of the most prevalent chronic diseases worldwide and is associated with severe health complications and increasing healthcare costs. Early identification of individuals at high risk enables healthcare providers to implement preventive interventions, optimise screening programmes, and improve long-term patient outcomes. </a:t>
            </a:r>
          </a:p>
          <a:p>
            <a:pPr marL="228600" indent="-228600">
              <a:lnSpc>
                <a:spcPct val="100000"/>
              </a:lnSpc>
              <a:spcBef>
                <a:spcPts val="0"/>
              </a:spcBef>
              <a:spcAft>
                <a:spcPts val="1200"/>
              </a:spcAft>
              <a:buFont typeface="Arial" panose="020B0604020202020204" pitchFamily="34" charset="0"/>
              <a:buChar char="•"/>
            </a:pPr>
            <a:r>
              <a:rPr lang="en-SG" sz="2100" b="1" dirty="0">
                <a:solidFill>
                  <a:srgbClr val="002060"/>
                </a:solidFill>
                <a:latin typeface="Calibri" panose="020F0502020204030204" pitchFamily="34" charset="0"/>
                <a:ea typeface="Calibri" panose="020F0502020204030204" pitchFamily="34" charset="0"/>
                <a:cs typeface="Calibri" panose="020F0502020204030204" pitchFamily="34" charset="0"/>
              </a:rPr>
              <a:t>Project Objectives:</a:t>
            </a:r>
          </a:p>
          <a:p>
            <a:pPr marL="285750" indent="-285750">
              <a:lnSpc>
                <a:spcPct val="100000"/>
              </a:lnSpc>
              <a:spcBef>
                <a:spcPts val="0"/>
              </a:spcBef>
              <a:spcAft>
                <a:spcPts val="1200"/>
              </a:spcAft>
              <a:buFont typeface="Wingdings" panose="05000000000000000000" pitchFamily="2" charset="2"/>
              <a:buChar char="v"/>
            </a:pPr>
            <a:r>
              <a:rPr lang="en-SG" dirty="0">
                <a:latin typeface="Calibri" panose="020F0502020204030204" pitchFamily="34" charset="0"/>
                <a:ea typeface="Calibri" panose="020F0502020204030204" pitchFamily="34" charset="0"/>
                <a:cs typeface="Calibri" panose="020F0502020204030204" pitchFamily="34" charset="0"/>
              </a:rPr>
              <a:t>Develop a machine learning model to predict diabetes risk using demographic, lifestyle, and health-related indicators.</a:t>
            </a:r>
          </a:p>
          <a:p>
            <a:pPr marL="285750" indent="-285750">
              <a:lnSpc>
                <a:spcPct val="100000"/>
              </a:lnSpc>
              <a:spcBef>
                <a:spcPts val="0"/>
              </a:spcBef>
              <a:spcAft>
                <a:spcPts val="1200"/>
              </a:spcAft>
              <a:buFont typeface="Wingdings" panose="05000000000000000000" pitchFamily="2" charset="2"/>
              <a:buChar char="v"/>
            </a:pPr>
            <a:r>
              <a:rPr lang="en-SG" dirty="0">
                <a:latin typeface="Calibri" panose="020F0502020204030204" pitchFamily="34" charset="0"/>
                <a:ea typeface="Calibri" panose="020F0502020204030204" pitchFamily="34" charset="0"/>
                <a:cs typeface="Calibri" panose="020F0502020204030204" pitchFamily="34" charset="0"/>
              </a:rPr>
              <a:t>Compare the performance of multiple machine learning algorithms and identify the most suitable prediction model.</a:t>
            </a:r>
          </a:p>
          <a:p>
            <a:pPr marL="285750" indent="-285750">
              <a:lnSpc>
                <a:spcPct val="100000"/>
              </a:lnSpc>
              <a:spcBef>
                <a:spcPts val="0"/>
              </a:spcBef>
              <a:spcAft>
                <a:spcPts val="1200"/>
              </a:spcAft>
              <a:buFont typeface="Wingdings" panose="05000000000000000000" pitchFamily="2" charset="2"/>
              <a:buChar char="v"/>
            </a:pPr>
            <a:r>
              <a:rPr lang="en-SG" dirty="0">
                <a:latin typeface="Calibri" panose="020F0502020204030204" pitchFamily="34" charset="0"/>
                <a:ea typeface="Calibri" panose="020F0502020204030204" pitchFamily="34" charset="0"/>
                <a:cs typeface="Calibri" panose="020F0502020204030204" pitchFamily="34" charset="0"/>
              </a:rPr>
              <a:t>Apply Explainable Artificial Intelligence to interpret model predictions and identify the most influential risk factors.</a:t>
            </a:r>
          </a:p>
          <a:p>
            <a:pPr marL="285750" indent="-285750">
              <a:lnSpc>
                <a:spcPct val="100000"/>
              </a:lnSpc>
              <a:spcBef>
                <a:spcPts val="0"/>
              </a:spcBef>
              <a:spcAft>
                <a:spcPts val="1200"/>
              </a:spcAft>
              <a:buFont typeface="Wingdings" panose="05000000000000000000" pitchFamily="2" charset="2"/>
              <a:buChar char="v"/>
            </a:pPr>
            <a:r>
              <a:rPr lang="en-SG" dirty="0">
                <a:latin typeface="Calibri" panose="020F0502020204030204" pitchFamily="34" charset="0"/>
                <a:ea typeface="Calibri" panose="020F0502020204030204" pitchFamily="34" charset="0"/>
                <a:cs typeface="Calibri" panose="020F0502020204030204" pitchFamily="34" charset="0"/>
              </a:rPr>
              <a:t>Recommend a practical deployment approach that supports data-driven decision-making for preventive healthcare programs.</a:t>
            </a:r>
          </a:p>
          <a:p>
            <a:endParaRPr lang="en-SG" dirty="0"/>
          </a:p>
        </p:txBody>
      </p:sp>
    </p:spTree>
    <p:extLst>
      <p:ext uri="{BB962C8B-B14F-4D97-AF65-F5344CB8AC3E}">
        <p14:creationId xmlns:p14="http://schemas.microsoft.com/office/powerpoint/2010/main" val="333260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92B519B5-974A-894F-9E6D-3B5427646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6AB8B-1AB4-C4BC-379C-810E8C97EED4}"/>
              </a:ext>
            </a:extLst>
          </p:cNvPr>
          <p:cNvSpPr>
            <a:spLocks noGrp="1"/>
          </p:cNvSpPr>
          <p:nvPr>
            <p:ph type="title"/>
          </p:nvPr>
        </p:nvSpPr>
        <p:spPr>
          <a:xfrm>
            <a:off x="106680" y="82297"/>
            <a:ext cx="11247120" cy="517143"/>
          </a:xfrm>
        </p:spPr>
        <p:txBody>
          <a:bodyPr>
            <a:normAutofit/>
          </a:bodyPr>
          <a:lstStyle/>
          <a:p>
            <a:pPr algn="ctr"/>
            <a:r>
              <a:rPr lang="en-SG" sz="2800" b="1" dirty="0">
                <a:solidFill>
                  <a:srgbClr val="002060"/>
                </a:solidFill>
              </a:rPr>
              <a:t>BUSINESS PROBLEM</a:t>
            </a:r>
          </a:p>
        </p:txBody>
      </p:sp>
      <p:sp>
        <p:nvSpPr>
          <p:cNvPr id="3" name="Content Placeholder 2">
            <a:extLst>
              <a:ext uri="{FF2B5EF4-FFF2-40B4-BE49-F238E27FC236}">
                <a16:creationId xmlns:a16="http://schemas.microsoft.com/office/drawing/2014/main" id="{038016D3-6D26-94ED-1994-A6E1D83F1574}"/>
              </a:ext>
            </a:extLst>
          </p:cNvPr>
          <p:cNvSpPr>
            <a:spLocks noGrp="1"/>
          </p:cNvSpPr>
          <p:nvPr>
            <p:ph sz="quarter" idx="11"/>
          </p:nvPr>
        </p:nvSpPr>
        <p:spPr>
          <a:xfrm>
            <a:off x="62863" y="548639"/>
            <a:ext cx="6146800" cy="6257543"/>
          </a:xfrm>
          <a:ln w="19050">
            <a:solidFill>
              <a:srgbClr val="7030A0"/>
            </a:solidFill>
          </a:ln>
          <a:effectLst/>
        </p:spPr>
        <p:txBody>
          <a:bodyPr/>
          <a:lstStyle/>
          <a:p>
            <a:r>
              <a:rPr lang="en-SG" sz="1800" dirty="0">
                <a:latin typeface="Calibri" panose="020F0502020204030204" pitchFamily="34" charset="0"/>
                <a:ea typeface="Calibri" panose="020F0502020204030204" pitchFamily="34" charset="0"/>
                <a:cs typeface="Calibri" panose="020F0502020204030204" pitchFamily="34" charset="0"/>
              </a:rPr>
              <a:t>Healthcare organisations are increasingly adopting data-driven technologies to improve disease prevention and optimise healthcare resource allocation. Diabetes is one of the most common chronic diseases worldwide, making the early identification of individuals at high risk of diabetes an important healthcare priority.</a:t>
            </a: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Prompt:</a:t>
            </a:r>
          </a:p>
          <a:p>
            <a:endParaRPr lang="en-SG" dirty="0">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Draft Prompt:</a:t>
            </a:r>
          </a:p>
          <a:p>
            <a:endParaRPr lang="en-SG" dirty="0">
              <a:latin typeface="Calibri" panose="020F0502020204030204" pitchFamily="34"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D11E24D0-E279-323B-30EF-B8D58187E2D0}"/>
              </a:ext>
            </a:extLst>
          </p:cNvPr>
          <p:cNvSpPr>
            <a:spLocks noGrp="1"/>
          </p:cNvSpPr>
          <p:nvPr>
            <p:ph sz="quarter" idx="12"/>
          </p:nvPr>
        </p:nvSpPr>
        <p:spPr>
          <a:xfrm>
            <a:off x="6315074" y="548639"/>
            <a:ext cx="5770246" cy="6227063"/>
          </a:xfrm>
          <a:ln w="19050">
            <a:solidFill>
              <a:srgbClr val="7030A0"/>
            </a:solidFill>
          </a:ln>
        </p:spPr>
        <p:txBody>
          <a:bodyPr>
            <a:normAutofit fontScale="92500" lnSpcReduction="10000"/>
          </a:bodyPr>
          <a:lstStyle/>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Comments / Review on AI Draft:</a:t>
            </a:r>
          </a:p>
          <a:p>
            <a:r>
              <a:rPr lang="en-SG" sz="1800" dirty="0">
                <a:latin typeface="Calibri" panose="020F0502020204030204" pitchFamily="34" charset="0"/>
                <a:ea typeface="Calibri" panose="020F0502020204030204" pitchFamily="34" charset="0"/>
                <a:cs typeface="Calibri" panose="020F0502020204030204" pitchFamily="34" charset="0"/>
              </a:rPr>
              <a:t>The AI draft correctly identifies diabetes prediction as an important healthcare problem and explains that early prediction can reduce complications and improve patient care. It also recognises the need for timely intervention.</a:t>
            </a:r>
          </a:p>
          <a:p>
            <a:r>
              <a:rPr lang="en-SG" sz="1800" dirty="0">
                <a:latin typeface="Calibri" panose="020F0502020204030204" pitchFamily="34" charset="0"/>
                <a:ea typeface="Calibri" panose="020F0502020204030204" pitchFamily="34" charset="0"/>
                <a:cs typeface="Calibri" panose="020F0502020204030204" pitchFamily="34" charset="0"/>
              </a:rPr>
              <a:t>However, the description is too broad and focuses mainly on clinical outcomes. It does not clearly explain the operational challenges faced by healthcare organisations, such as limited screening resources and the need to prioritise high-risk individuals. In addition, the business value of the predictive model should be emphasised by explaining how it supports healthcare planning, resource allocation, and preventive care. Therefore, the business problem should be refined to better align with the project objectives and the dataset.</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Refined Business Problem:</a:t>
            </a:r>
          </a:p>
          <a:p>
            <a:r>
              <a:rPr lang="en-SG" sz="1800" dirty="0">
                <a:latin typeface="Calibri" panose="020F0502020204030204" pitchFamily="34" charset="0"/>
                <a:ea typeface="Calibri" panose="020F0502020204030204" pitchFamily="34" charset="0"/>
                <a:cs typeface="Calibri" panose="020F0502020204030204" pitchFamily="34" charset="0"/>
              </a:rPr>
              <a:t>Diabetes is one of the leading chronic diseases worldwide and is associated with significant healthcare costs, long-term complications, and reduced quality of life. Healthcare organisations often have limited resources for comprehensive diabetes screening. By using machine learning to analyse demographic, lifestyle, and health-related indicators, healthcare programmes can use predicted risk to prioritise individuals for further screening or preventive intervention.</a:t>
            </a:r>
          </a:p>
        </p:txBody>
      </p:sp>
      <p:pic>
        <p:nvPicPr>
          <p:cNvPr id="6" name="Picture 5" descr="A screenshot of a computer program&#10;&#10;AI-generated content may be incorrect.">
            <a:extLst>
              <a:ext uri="{FF2B5EF4-FFF2-40B4-BE49-F238E27FC236}">
                <a16:creationId xmlns:a16="http://schemas.microsoft.com/office/drawing/2014/main" id="{82779AB8-BBB4-9DCC-C486-BFAB724D0394}"/>
              </a:ext>
            </a:extLst>
          </p:cNvPr>
          <p:cNvPicPr>
            <a:picLocks noChangeAspect="1"/>
          </p:cNvPicPr>
          <p:nvPr/>
        </p:nvPicPr>
        <p:blipFill>
          <a:blip r:embed="rId2"/>
          <a:stretch>
            <a:fillRect/>
          </a:stretch>
        </p:blipFill>
        <p:spPr>
          <a:xfrm>
            <a:off x="168275" y="2474128"/>
            <a:ext cx="5927725" cy="2765172"/>
          </a:xfrm>
          <a:prstGeom prst="rect">
            <a:avLst/>
          </a:prstGeom>
        </p:spPr>
      </p:pic>
      <p:pic>
        <p:nvPicPr>
          <p:cNvPr id="7" name="Picture 6" descr="A close-up of a white background&#10;&#10;AI-generated content may be incorrect.">
            <a:extLst>
              <a:ext uri="{FF2B5EF4-FFF2-40B4-BE49-F238E27FC236}">
                <a16:creationId xmlns:a16="http://schemas.microsoft.com/office/drawing/2014/main" id="{3008839A-424A-145E-97AF-1268D609B949}"/>
              </a:ext>
            </a:extLst>
          </p:cNvPr>
          <p:cNvPicPr>
            <a:picLocks noChangeAspect="1"/>
          </p:cNvPicPr>
          <p:nvPr/>
        </p:nvPicPr>
        <p:blipFill>
          <a:blip r:embed="rId3"/>
          <a:stretch>
            <a:fillRect/>
          </a:stretch>
        </p:blipFill>
        <p:spPr>
          <a:xfrm>
            <a:off x="168274" y="5624362"/>
            <a:ext cx="5927725" cy="979637"/>
          </a:xfrm>
          <a:prstGeom prst="rect">
            <a:avLst/>
          </a:prstGeom>
        </p:spPr>
      </p:pic>
    </p:spTree>
    <p:extLst>
      <p:ext uri="{BB962C8B-B14F-4D97-AF65-F5344CB8AC3E}">
        <p14:creationId xmlns:p14="http://schemas.microsoft.com/office/powerpoint/2010/main" val="2570318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42D45-518C-4247-AF3C-0A93EFE56A17}"/>
              </a:ext>
            </a:extLst>
          </p:cNvPr>
          <p:cNvSpPr>
            <a:spLocks noGrp="1"/>
          </p:cNvSpPr>
          <p:nvPr>
            <p:ph type="title"/>
          </p:nvPr>
        </p:nvSpPr>
        <p:spPr>
          <a:xfrm>
            <a:off x="311276" y="121919"/>
            <a:ext cx="11200003" cy="487681"/>
          </a:xfrm>
        </p:spPr>
        <p:txBody>
          <a:bodyPr/>
          <a:lstStyle/>
          <a:p>
            <a:pPr algn="ctr"/>
            <a:r>
              <a:rPr lang="en-SG" sz="2800" b="1" dirty="0">
                <a:solidFill>
                  <a:srgbClr val="002060"/>
                </a:solidFill>
              </a:rPr>
              <a:t>PERSONA</a:t>
            </a:r>
          </a:p>
        </p:txBody>
      </p:sp>
      <p:sp>
        <p:nvSpPr>
          <p:cNvPr id="3" name="Content Placeholder 2">
            <a:extLst>
              <a:ext uri="{FF2B5EF4-FFF2-40B4-BE49-F238E27FC236}">
                <a16:creationId xmlns:a16="http://schemas.microsoft.com/office/drawing/2014/main" id="{77481579-E7CA-B464-3B77-A411187095CD}"/>
              </a:ext>
            </a:extLst>
          </p:cNvPr>
          <p:cNvSpPr>
            <a:spLocks noGrp="1"/>
          </p:cNvSpPr>
          <p:nvPr>
            <p:ph sz="quarter" idx="11"/>
          </p:nvPr>
        </p:nvSpPr>
        <p:spPr>
          <a:xfrm>
            <a:off x="152592" y="516635"/>
            <a:ext cx="5709727" cy="6219446"/>
          </a:xfrm>
          <a:ln w="19050">
            <a:solidFill>
              <a:srgbClr val="7030A0"/>
            </a:solidFill>
          </a:ln>
        </p:spPr>
        <p:txBody>
          <a:bodyPr/>
          <a:lstStyle/>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Identifying the key beneficiary is an important step in business understanding because it ensures the machine learning solution is developed to address genuine organisational needs. The persona captures the stakeholder’s responsibilities, objectives, pain points, and expected use of the predictive model, providing a clear connection between the business problem and the proposed analytical solution.</a:t>
            </a: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Draft Output:</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Comments / Review on AI Draft:</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The AI draft identifies a healthcare professional as the beneficiary and outlines several useful goals and pain points. However, the chosen persona, a primary care physician, is more focused on diagnosing and treating individual patients rather than planning preventive healthcare programmes.</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Since this project aims to support population-level diabetes risk prediction, a Population Health Programme Manager is a more appropriate beneficiary. This role is responsible for organising screening programmes, allocating healthcare resources, and implementing preventive interventions. </a:t>
            </a:r>
          </a:p>
          <a:p>
            <a:endParaRPr lang="en-SG" dirty="0"/>
          </a:p>
        </p:txBody>
      </p:sp>
      <p:sp>
        <p:nvSpPr>
          <p:cNvPr id="4" name="Content Placeholder 3">
            <a:extLst>
              <a:ext uri="{FF2B5EF4-FFF2-40B4-BE49-F238E27FC236}">
                <a16:creationId xmlns:a16="http://schemas.microsoft.com/office/drawing/2014/main" id="{3389A2F3-5003-B2DB-4F8B-3F9E4C12280F}"/>
              </a:ext>
            </a:extLst>
          </p:cNvPr>
          <p:cNvSpPr>
            <a:spLocks noGrp="1"/>
          </p:cNvSpPr>
          <p:nvPr>
            <p:ph sz="quarter" idx="12"/>
          </p:nvPr>
        </p:nvSpPr>
        <p:spPr>
          <a:xfrm>
            <a:off x="5912928" y="516634"/>
            <a:ext cx="6126480" cy="6219445"/>
          </a:xfrm>
          <a:ln w="19050">
            <a:solidFill>
              <a:srgbClr val="7030A0"/>
            </a:solidFill>
          </a:ln>
        </p:spPr>
        <p:txBody>
          <a:bodyPr>
            <a:normAutofit fontScale="92500" lnSpcReduction="20000"/>
          </a:bodyPr>
          <a:lstStyle/>
          <a:p>
            <a:pPr>
              <a:lnSpc>
                <a:spcPct val="100000"/>
              </a:lnSpc>
            </a:pPr>
            <a:r>
              <a:rPr lang="en-SG" sz="1900" b="1" dirty="0">
                <a:solidFill>
                  <a:srgbClr val="002060"/>
                </a:solidFill>
                <a:latin typeface="Calibri" panose="020F0502020204030204" pitchFamily="34" charset="0"/>
                <a:ea typeface="Calibri" panose="020F0502020204030204" pitchFamily="34" charset="0"/>
                <a:cs typeface="Calibri" panose="020F0502020204030204" pitchFamily="34" charset="0"/>
              </a:rPr>
              <a:t>Refined Persona:</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Persona</a:t>
            </a:r>
            <a:r>
              <a:rPr lang="en-SG" sz="1700" dirty="0">
                <a:latin typeface="Calibri" panose="020F0502020204030204" pitchFamily="34" charset="0"/>
                <a:ea typeface="Calibri" panose="020F0502020204030204" pitchFamily="34" charset="0"/>
                <a:cs typeface="Calibri" panose="020F0502020204030204" pitchFamily="34" charset="0"/>
              </a:rPr>
              <a:t>: Seng Guan</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Role</a:t>
            </a:r>
            <a:r>
              <a:rPr lang="en-SG" sz="1700" dirty="0">
                <a:latin typeface="Calibri" panose="020F0502020204030204" pitchFamily="34" charset="0"/>
                <a:ea typeface="Calibri" panose="020F0502020204030204" pitchFamily="34" charset="0"/>
                <a:cs typeface="Calibri" panose="020F0502020204030204" pitchFamily="34" charset="0"/>
              </a:rPr>
              <a:t>: Population Healthcare Programme Manager</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Goals: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Improve early identification of individuals at high risk of diabetes.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Increase the effectiveness of community screening programmes.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Allocate preventive healthcare resources efficiently.</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Reduce long-term diabetes complications.</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Pain Points: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Limited healthcare resources.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Increasing prevalence of diabetes.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Difficulty identifying high-risk individuals before diagnosis.</a:t>
            </a:r>
          </a:p>
          <a:p>
            <a:pPr marL="285750" indent="-285750">
              <a:lnSpc>
                <a:spcPct val="80000"/>
              </a:lnSpc>
              <a:buFont typeface="Wingdings" panose="05000000000000000000" pitchFamily="2" charset="2"/>
              <a:buChar char="Ø"/>
            </a:pPr>
            <a:r>
              <a:rPr lang="en-SG" sz="1700" dirty="0">
                <a:latin typeface="Calibri" panose="020F0502020204030204" pitchFamily="34" charset="0"/>
                <a:ea typeface="Calibri" panose="020F0502020204030204" pitchFamily="34" charset="0"/>
                <a:cs typeface="Calibri" panose="020F0502020204030204" pitchFamily="34" charset="0"/>
              </a:rPr>
              <a:t>Rising healthcare costs associated with chronic disease.</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Behaviours: </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Regularly reviews healthcare dashboards, analytical reports, and population health indicators to identify high-risk communities, monitor diabetes trends, and evaluate preventive healthcare programs.</a:t>
            </a:r>
          </a:p>
          <a:p>
            <a:r>
              <a:rPr lang="en-SG" sz="1700" b="1" dirty="0">
                <a:latin typeface="Calibri" panose="020F0502020204030204" pitchFamily="34" charset="0"/>
                <a:ea typeface="Calibri" panose="020F0502020204030204" pitchFamily="34" charset="0"/>
                <a:cs typeface="Calibri" panose="020F0502020204030204" pitchFamily="34" charset="0"/>
              </a:rPr>
              <a:t>How the solution will be used: </a:t>
            </a:r>
          </a:p>
          <a:p>
            <a:r>
              <a:rPr lang="en-SG" sz="1700" dirty="0">
                <a:latin typeface="Calibri" panose="020F0502020204030204" pitchFamily="34" charset="0"/>
                <a:ea typeface="Calibri" panose="020F0502020204030204" pitchFamily="34" charset="0"/>
                <a:cs typeface="Calibri" panose="020F0502020204030204" pitchFamily="34" charset="0"/>
              </a:rPr>
              <a:t>The predictive model generates an estimated diabetes risk score for each individual. Healthcare programme managers use these predictions to prioritise high-risk individuals for screening, lifestyle counselling, and prevention interventions, enabling more efficient allocation of healthcare resources. </a:t>
            </a:r>
          </a:p>
          <a:p>
            <a:r>
              <a:rPr lang="en-SG" sz="1700" b="1" dirty="0">
                <a:latin typeface="Calibri" panose="020F0502020204030204" pitchFamily="34" charset="0"/>
                <a:ea typeface="Calibri" panose="020F0502020204030204" pitchFamily="34" charset="0"/>
                <a:cs typeface="Calibri" panose="020F0502020204030204" pitchFamily="34" charset="0"/>
              </a:rPr>
              <a:t>Decision supported: </a:t>
            </a:r>
            <a:r>
              <a:rPr lang="en-SG" sz="1700" dirty="0">
                <a:latin typeface="Calibri" panose="020F0502020204030204" pitchFamily="34" charset="0"/>
                <a:ea typeface="Calibri" panose="020F0502020204030204" pitchFamily="34" charset="0"/>
                <a:cs typeface="Calibri" panose="020F0502020204030204" pitchFamily="34" charset="0"/>
              </a:rPr>
              <a:t>Which individuals should be prioritised for screening or preventive intervention?</a:t>
            </a:r>
          </a:p>
        </p:txBody>
      </p:sp>
      <p:pic>
        <p:nvPicPr>
          <p:cNvPr id="7" name="Picture 6">
            <a:extLst>
              <a:ext uri="{FF2B5EF4-FFF2-40B4-BE49-F238E27FC236}">
                <a16:creationId xmlns:a16="http://schemas.microsoft.com/office/drawing/2014/main" id="{380563C1-3BBB-BA0D-C380-A02B7380F440}"/>
              </a:ext>
            </a:extLst>
          </p:cNvPr>
          <p:cNvPicPr>
            <a:picLocks noChangeAspect="1"/>
          </p:cNvPicPr>
          <p:nvPr/>
        </p:nvPicPr>
        <p:blipFill>
          <a:blip r:embed="rId2"/>
          <a:stretch>
            <a:fillRect/>
          </a:stretch>
        </p:blipFill>
        <p:spPr>
          <a:xfrm>
            <a:off x="311276" y="2607766"/>
            <a:ext cx="5073911" cy="1009702"/>
          </a:xfrm>
          <a:prstGeom prst="rect">
            <a:avLst/>
          </a:prstGeom>
        </p:spPr>
      </p:pic>
    </p:spTree>
    <p:extLst>
      <p:ext uri="{BB962C8B-B14F-4D97-AF65-F5344CB8AC3E}">
        <p14:creationId xmlns:p14="http://schemas.microsoft.com/office/powerpoint/2010/main" val="303689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9D9449B9-CABE-D482-225D-1B85457BE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4C53A-5483-0D43-5473-3C5269CB3344}"/>
              </a:ext>
            </a:extLst>
          </p:cNvPr>
          <p:cNvSpPr>
            <a:spLocks noGrp="1"/>
          </p:cNvSpPr>
          <p:nvPr>
            <p:ph type="title"/>
          </p:nvPr>
        </p:nvSpPr>
        <p:spPr>
          <a:xfrm>
            <a:off x="553633" y="28953"/>
            <a:ext cx="11200003" cy="487681"/>
          </a:xfrm>
        </p:spPr>
        <p:txBody>
          <a:bodyPr>
            <a:normAutofit fontScale="90000"/>
          </a:bodyPr>
          <a:lstStyle/>
          <a:p>
            <a:pPr algn="ctr"/>
            <a:r>
              <a:rPr lang="en-SG" sz="3100" b="1" dirty="0">
                <a:solidFill>
                  <a:srgbClr val="002060"/>
                </a:solidFill>
              </a:rPr>
              <a:t>JOBS-TO-BE-DONE(JTBD) FRAMEWORK</a:t>
            </a:r>
          </a:p>
        </p:txBody>
      </p:sp>
      <p:sp>
        <p:nvSpPr>
          <p:cNvPr id="3" name="Content Placeholder 2">
            <a:extLst>
              <a:ext uri="{FF2B5EF4-FFF2-40B4-BE49-F238E27FC236}">
                <a16:creationId xmlns:a16="http://schemas.microsoft.com/office/drawing/2014/main" id="{A0C398F7-9F82-F816-AF6C-9758FF95923E}"/>
              </a:ext>
            </a:extLst>
          </p:cNvPr>
          <p:cNvSpPr>
            <a:spLocks noGrp="1"/>
          </p:cNvSpPr>
          <p:nvPr>
            <p:ph sz="quarter" idx="11"/>
          </p:nvPr>
        </p:nvSpPr>
        <p:spPr>
          <a:xfrm>
            <a:off x="152592" y="516635"/>
            <a:ext cx="5709727" cy="6219446"/>
          </a:xfrm>
          <a:ln w="19050">
            <a:solidFill>
              <a:srgbClr val="7030A0"/>
            </a:solidFill>
          </a:ln>
        </p:spPr>
        <p:txBody>
          <a:bodyPr>
            <a:normAutofit/>
          </a:bodyPr>
          <a:lstStyle/>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The Jobs-To-Be-Done (JTBD) framework focuses on understanding what stakeholders need to accomplish rather than simply describing who they are. It translates business needs into a clear modelling objective by identifying the desired outcome that the machine learning solution should support. This ensures that the predictive model delivers practical value and aligns with the stakeholders’ decision-making process.</a:t>
            </a:r>
          </a:p>
          <a:p>
            <a:pPr>
              <a:lnSpc>
                <a:spcPct val="80000"/>
              </a:lnSpc>
            </a:pPr>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Draft Output:</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Comments / Review on AI Draft:</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The AI draft introduces the Job-To-Be-Done concept and proposes a suitable modelling objective. However, several recommended predictors, including HbA1c and ICD codes, are not available in the selected CDC Diabetes Health Indicators dataset. Including variables that are not present would make the model inconsistent.</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The modelling objectives should therefore be revised using only the variables available in the dataset. This ensures that the project remains technically accurate and fully reproducible. </a:t>
            </a:r>
          </a:p>
          <a:p>
            <a:endParaRPr lang="en-SG" dirty="0"/>
          </a:p>
        </p:txBody>
      </p:sp>
      <p:sp>
        <p:nvSpPr>
          <p:cNvPr id="4" name="Content Placeholder 3">
            <a:extLst>
              <a:ext uri="{FF2B5EF4-FFF2-40B4-BE49-F238E27FC236}">
                <a16:creationId xmlns:a16="http://schemas.microsoft.com/office/drawing/2014/main" id="{B07CA1FE-0873-090E-8DB4-FA7B11D83057}"/>
              </a:ext>
            </a:extLst>
          </p:cNvPr>
          <p:cNvSpPr>
            <a:spLocks noGrp="1"/>
          </p:cNvSpPr>
          <p:nvPr>
            <p:ph sz="quarter" idx="12"/>
          </p:nvPr>
        </p:nvSpPr>
        <p:spPr>
          <a:xfrm>
            <a:off x="5912928" y="516634"/>
            <a:ext cx="6126480" cy="6219445"/>
          </a:xfrm>
          <a:ln w="19050">
            <a:solidFill>
              <a:srgbClr val="7030A0"/>
            </a:solidFill>
          </a:ln>
        </p:spPr>
        <p:txBody>
          <a:bodyPr>
            <a:normAutofit/>
          </a:bodyPr>
          <a:lstStyle/>
          <a:p>
            <a:pPr>
              <a:lnSpc>
                <a:spcPct val="100000"/>
              </a:lnSpc>
            </a:pPr>
            <a:r>
              <a:rPr lang="en-SG" sz="1900" b="1" dirty="0">
                <a:solidFill>
                  <a:srgbClr val="002060"/>
                </a:solidFill>
                <a:latin typeface="Calibri" panose="020F0502020204030204" pitchFamily="34" charset="0"/>
                <a:ea typeface="Calibri" panose="020F0502020204030204" pitchFamily="34" charset="0"/>
                <a:cs typeface="Calibri" panose="020F0502020204030204" pitchFamily="34" charset="0"/>
              </a:rPr>
              <a:t>Refined JTBD and Modelling Objectives:</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Jobs-To-Be-Done (JTBD)</a:t>
            </a:r>
            <a:endParaRPr lang="en-SG" sz="1700" dirty="0">
              <a:latin typeface="Calibri" panose="020F0502020204030204" pitchFamily="34" charset="0"/>
              <a:ea typeface="Calibri" panose="020F0502020204030204" pitchFamily="34" charset="0"/>
              <a:cs typeface="Calibri" panose="020F0502020204030204" pitchFamily="34" charset="0"/>
            </a:endParaRP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When planning preventive healthcare programmes, I want to identify individuals who are at high risk of diabetes so that healthcare resources can be allocated efficiently, preventive interventions can be delivered earlier, and long-term diabetes complications can be reduced.</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Predictive Modelling Objective:</a:t>
            </a:r>
          </a:p>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Develop a binary classification model to predict whether an individual has diabetes using demographic, lifestyle, and health-related indicators.</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Target Variable:</a:t>
            </a:r>
          </a:p>
          <a:p>
            <a:pPr marL="285750" indent="-285750">
              <a:lnSpc>
                <a:spcPct val="80000"/>
              </a:lnSpc>
              <a:buFont typeface="Wingdings" panose="05000000000000000000" pitchFamily="2" charset="2"/>
              <a:buChar char="Ø"/>
            </a:pPr>
            <a:r>
              <a:rPr lang="en-SG" sz="1700" b="1" dirty="0">
                <a:solidFill>
                  <a:srgbClr val="002060"/>
                </a:solidFill>
                <a:latin typeface="Calibri" panose="020F0502020204030204" pitchFamily="34" charset="0"/>
                <a:ea typeface="Calibri" panose="020F0502020204030204" pitchFamily="34" charset="0"/>
                <a:cs typeface="Calibri" panose="020F0502020204030204" pitchFamily="34" charset="0"/>
              </a:rPr>
              <a:t>0 = No Diabetes</a:t>
            </a:r>
          </a:p>
          <a:p>
            <a:pPr marL="285750" indent="-285750">
              <a:lnSpc>
                <a:spcPct val="80000"/>
              </a:lnSpc>
              <a:buFont typeface="Wingdings" panose="05000000000000000000" pitchFamily="2" charset="2"/>
              <a:buChar char="Ø"/>
            </a:pPr>
            <a:r>
              <a:rPr lang="en-SG" sz="1700" b="1" dirty="0">
                <a:solidFill>
                  <a:srgbClr val="002060"/>
                </a:solidFill>
                <a:latin typeface="Calibri" panose="020F0502020204030204" pitchFamily="34" charset="0"/>
                <a:ea typeface="Calibri" panose="020F0502020204030204" pitchFamily="34" charset="0"/>
                <a:cs typeface="Calibri" panose="020F0502020204030204" pitchFamily="34" charset="0"/>
              </a:rPr>
              <a:t>1 = Prediabetes or Diabetes</a:t>
            </a:r>
          </a:p>
          <a:p>
            <a:pPr>
              <a:lnSpc>
                <a:spcPct val="80000"/>
              </a:lnSpc>
            </a:pPr>
            <a:r>
              <a:rPr lang="en-SG" sz="1700" b="1" dirty="0">
                <a:latin typeface="Calibri" panose="020F0502020204030204" pitchFamily="34" charset="0"/>
                <a:ea typeface="Calibri" panose="020F0502020204030204" pitchFamily="34" charset="0"/>
                <a:cs typeface="Calibri" panose="020F0502020204030204" pitchFamily="34" charset="0"/>
              </a:rPr>
              <a:t>Predictor Variables: </a:t>
            </a:r>
          </a:p>
          <a:p>
            <a:pPr>
              <a:lnSpc>
                <a:spcPct val="80000"/>
              </a:lnSpc>
            </a:pPr>
            <a:endParaRPr lang="en-SG" sz="17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close-up of a text&#10;&#10;AI-generated content may be incorrect.">
            <a:extLst>
              <a:ext uri="{FF2B5EF4-FFF2-40B4-BE49-F238E27FC236}">
                <a16:creationId xmlns:a16="http://schemas.microsoft.com/office/drawing/2014/main" id="{93080DBD-3B34-50FB-F998-32B3B84BD5CA}"/>
              </a:ext>
            </a:extLst>
          </p:cNvPr>
          <p:cNvPicPr>
            <a:picLocks noChangeAspect="1"/>
          </p:cNvPicPr>
          <p:nvPr/>
        </p:nvPicPr>
        <p:blipFill>
          <a:blip r:embed="rId2"/>
          <a:stretch>
            <a:fillRect/>
          </a:stretch>
        </p:blipFill>
        <p:spPr>
          <a:xfrm>
            <a:off x="196277" y="2580639"/>
            <a:ext cx="5715000" cy="1092200"/>
          </a:xfrm>
          <a:prstGeom prst="rect">
            <a:avLst/>
          </a:prstGeom>
        </p:spPr>
      </p:pic>
      <p:pic>
        <p:nvPicPr>
          <p:cNvPr id="10" name="Picture 9">
            <a:extLst>
              <a:ext uri="{FF2B5EF4-FFF2-40B4-BE49-F238E27FC236}">
                <a16:creationId xmlns:a16="http://schemas.microsoft.com/office/drawing/2014/main" id="{B87D1C88-6B77-F3AD-5308-E39BDE4970BE}"/>
              </a:ext>
            </a:extLst>
          </p:cNvPr>
          <p:cNvPicPr>
            <a:picLocks noChangeAspect="1"/>
          </p:cNvPicPr>
          <p:nvPr/>
        </p:nvPicPr>
        <p:blipFill>
          <a:blip r:embed="rId3"/>
          <a:stretch>
            <a:fillRect/>
          </a:stretch>
        </p:blipFill>
        <p:spPr>
          <a:xfrm>
            <a:off x="6096000" y="4907422"/>
            <a:ext cx="5657636" cy="1092686"/>
          </a:xfrm>
          <a:prstGeom prst="rect">
            <a:avLst/>
          </a:prstGeom>
        </p:spPr>
      </p:pic>
    </p:spTree>
    <p:extLst>
      <p:ext uri="{BB962C8B-B14F-4D97-AF65-F5344CB8AC3E}">
        <p14:creationId xmlns:p14="http://schemas.microsoft.com/office/powerpoint/2010/main" val="362390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3D07A51C-C565-A4F9-389B-8A62420905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0E0A5-784A-E87F-700A-620A7BFFD327}"/>
              </a:ext>
            </a:extLst>
          </p:cNvPr>
          <p:cNvSpPr>
            <a:spLocks noGrp="1"/>
          </p:cNvSpPr>
          <p:nvPr>
            <p:ph type="title"/>
          </p:nvPr>
        </p:nvSpPr>
        <p:spPr>
          <a:xfrm>
            <a:off x="553633" y="28953"/>
            <a:ext cx="11200003" cy="487681"/>
          </a:xfrm>
        </p:spPr>
        <p:txBody>
          <a:bodyPr>
            <a:normAutofit fontScale="90000"/>
          </a:bodyPr>
          <a:lstStyle/>
          <a:p>
            <a:pPr algn="ctr"/>
            <a:r>
              <a:rPr lang="en-US" sz="3100" b="1" dirty="0">
                <a:solidFill>
                  <a:srgbClr val="002060"/>
                </a:solidFill>
              </a:rPr>
              <a:t>DATA SET – OVERVIEW</a:t>
            </a:r>
            <a:endParaRPr lang="en-SG" sz="3100" b="1" dirty="0">
              <a:solidFill>
                <a:srgbClr val="002060"/>
              </a:solidFill>
            </a:endParaRPr>
          </a:p>
        </p:txBody>
      </p:sp>
      <p:sp>
        <p:nvSpPr>
          <p:cNvPr id="4" name="Content Placeholder 3">
            <a:extLst>
              <a:ext uri="{FF2B5EF4-FFF2-40B4-BE49-F238E27FC236}">
                <a16:creationId xmlns:a16="http://schemas.microsoft.com/office/drawing/2014/main" id="{3CE4F996-F03B-9B25-D87C-C4E7BCC23410}"/>
              </a:ext>
            </a:extLst>
          </p:cNvPr>
          <p:cNvSpPr>
            <a:spLocks noGrp="1"/>
          </p:cNvSpPr>
          <p:nvPr>
            <p:ph sz="quarter" idx="12"/>
          </p:nvPr>
        </p:nvSpPr>
        <p:spPr>
          <a:xfrm>
            <a:off x="165465" y="4968291"/>
            <a:ext cx="5206636" cy="1718259"/>
          </a:xfrm>
          <a:ln w="19050">
            <a:solidFill>
              <a:srgbClr val="7030A0"/>
            </a:solidFill>
          </a:ln>
        </p:spPr>
        <p:txBody>
          <a:bodyPr>
            <a:normAutofit fontScale="92500" lnSpcReduction="10000"/>
          </a:bodyPr>
          <a:lstStyle/>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Source: </a:t>
            </a:r>
            <a:r>
              <a:rPr lang="en-SG" sz="1800" b="1" dirty="0">
                <a:latin typeface="Calibri" panose="020F0502020204030204" pitchFamily="34" charset="0"/>
                <a:ea typeface="Calibri" panose="020F0502020204030204" pitchFamily="34" charset="0"/>
                <a:cs typeface="Calibri" panose="020F0502020204030204" pitchFamily="34" charset="0"/>
              </a:rPr>
              <a:t>CDC Diabetes Health Indicators</a:t>
            </a:r>
          </a:p>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Total Records: </a:t>
            </a:r>
            <a:r>
              <a:rPr lang="en-SG" sz="1800" b="1" dirty="0">
                <a:latin typeface="Calibri" panose="020F0502020204030204" pitchFamily="34" charset="0"/>
                <a:ea typeface="Calibri" panose="020F0502020204030204" pitchFamily="34" charset="0"/>
                <a:cs typeface="Calibri" panose="020F0502020204030204" pitchFamily="34" charset="0"/>
              </a:rPr>
              <a:t>253,680</a:t>
            </a:r>
          </a:p>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Duplicate Records: </a:t>
            </a:r>
            <a:r>
              <a:rPr lang="en-SG" sz="1800" b="1" dirty="0">
                <a:latin typeface="Calibri" panose="020F0502020204030204" pitchFamily="34" charset="0"/>
                <a:ea typeface="Calibri" panose="020F0502020204030204" pitchFamily="34" charset="0"/>
                <a:cs typeface="Calibri" panose="020F0502020204030204" pitchFamily="34" charset="0"/>
              </a:rPr>
              <a:t>24,206 (9.54%)</a:t>
            </a:r>
          </a:p>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Features: </a:t>
            </a:r>
            <a:r>
              <a:rPr lang="en-SG" sz="1800" b="1" dirty="0">
                <a:latin typeface="Calibri" panose="020F0502020204030204" pitchFamily="34" charset="0"/>
                <a:ea typeface="Calibri" panose="020F0502020204030204" pitchFamily="34" charset="0"/>
                <a:cs typeface="Calibri" panose="020F0502020204030204" pitchFamily="34" charset="0"/>
              </a:rPr>
              <a:t>22 (21 Predictors +1 Target)</a:t>
            </a:r>
          </a:p>
          <a:p>
            <a:pPr marL="285750" indent="-285750">
              <a:lnSpc>
                <a:spcPct val="110000"/>
              </a:lnSpc>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Target Variable: </a:t>
            </a:r>
            <a:r>
              <a:rPr lang="en-SG" sz="1800" b="1" dirty="0">
                <a:latin typeface="Calibri" panose="020F0502020204030204" pitchFamily="34" charset="0"/>
                <a:ea typeface="Calibri" panose="020F0502020204030204" pitchFamily="34" charset="0"/>
                <a:cs typeface="Calibri" panose="020F0502020204030204" pitchFamily="34" charset="0"/>
              </a:rPr>
              <a:t>Diabetes Binary</a:t>
            </a:r>
          </a:p>
        </p:txBody>
      </p:sp>
      <p:pic>
        <p:nvPicPr>
          <p:cNvPr id="7" name="Picture 6">
            <a:extLst>
              <a:ext uri="{FF2B5EF4-FFF2-40B4-BE49-F238E27FC236}">
                <a16:creationId xmlns:a16="http://schemas.microsoft.com/office/drawing/2014/main" id="{AB137BBA-AD36-254C-7BA9-BF04C9C95112}"/>
              </a:ext>
            </a:extLst>
          </p:cNvPr>
          <p:cNvPicPr>
            <a:picLocks noChangeAspect="1"/>
          </p:cNvPicPr>
          <p:nvPr/>
        </p:nvPicPr>
        <p:blipFill>
          <a:blip r:embed="rId2"/>
          <a:stretch>
            <a:fillRect/>
          </a:stretch>
        </p:blipFill>
        <p:spPr>
          <a:xfrm>
            <a:off x="165466" y="516633"/>
            <a:ext cx="2463434" cy="593709"/>
          </a:xfrm>
          <a:prstGeom prst="rect">
            <a:avLst/>
          </a:prstGeom>
        </p:spPr>
      </p:pic>
      <p:pic>
        <p:nvPicPr>
          <p:cNvPr id="12" name="Picture 11">
            <a:extLst>
              <a:ext uri="{FF2B5EF4-FFF2-40B4-BE49-F238E27FC236}">
                <a16:creationId xmlns:a16="http://schemas.microsoft.com/office/drawing/2014/main" id="{21DF9269-87CA-137B-E19A-C3F5511503A5}"/>
              </a:ext>
            </a:extLst>
          </p:cNvPr>
          <p:cNvPicPr>
            <a:picLocks noChangeAspect="1"/>
          </p:cNvPicPr>
          <p:nvPr/>
        </p:nvPicPr>
        <p:blipFill>
          <a:blip r:embed="rId3"/>
          <a:stretch>
            <a:fillRect/>
          </a:stretch>
        </p:blipFill>
        <p:spPr>
          <a:xfrm>
            <a:off x="180375" y="1467889"/>
            <a:ext cx="2476355" cy="1497851"/>
          </a:xfrm>
          <a:prstGeom prst="rect">
            <a:avLst/>
          </a:prstGeom>
        </p:spPr>
      </p:pic>
      <p:pic>
        <p:nvPicPr>
          <p:cNvPr id="14" name="Picture 13">
            <a:extLst>
              <a:ext uri="{FF2B5EF4-FFF2-40B4-BE49-F238E27FC236}">
                <a16:creationId xmlns:a16="http://schemas.microsoft.com/office/drawing/2014/main" id="{4AFC0378-0981-DD13-E567-69DCBE7BBFED}"/>
              </a:ext>
            </a:extLst>
          </p:cNvPr>
          <p:cNvPicPr>
            <a:picLocks noChangeAspect="1"/>
          </p:cNvPicPr>
          <p:nvPr/>
        </p:nvPicPr>
        <p:blipFill>
          <a:blip r:embed="rId4"/>
          <a:stretch>
            <a:fillRect/>
          </a:stretch>
        </p:blipFill>
        <p:spPr>
          <a:xfrm>
            <a:off x="8976168" y="527307"/>
            <a:ext cx="3035457" cy="2901693"/>
          </a:xfrm>
          <a:prstGeom prst="rect">
            <a:avLst/>
          </a:prstGeom>
        </p:spPr>
      </p:pic>
      <p:pic>
        <p:nvPicPr>
          <p:cNvPr id="16" name="Picture 15">
            <a:extLst>
              <a:ext uri="{FF2B5EF4-FFF2-40B4-BE49-F238E27FC236}">
                <a16:creationId xmlns:a16="http://schemas.microsoft.com/office/drawing/2014/main" id="{7A054D1C-9DC2-D840-8BA9-B58E5C4D3977}"/>
              </a:ext>
            </a:extLst>
          </p:cNvPr>
          <p:cNvPicPr>
            <a:picLocks noChangeAspect="1"/>
          </p:cNvPicPr>
          <p:nvPr/>
        </p:nvPicPr>
        <p:blipFill>
          <a:blip r:embed="rId5"/>
          <a:stretch>
            <a:fillRect/>
          </a:stretch>
        </p:blipFill>
        <p:spPr>
          <a:xfrm>
            <a:off x="6301095" y="516634"/>
            <a:ext cx="2387723" cy="2853234"/>
          </a:xfrm>
          <a:prstGeom prst="rect">
            <a:avLst/>
          </a:prstGeom>
        </p:spPr>
      </p:pic>
      <p:pic>
        <p:nvPicPr>
          <p:cNvPr id="18" name="Picture 17">
            <a:extLst>
              <a:ext uri="{FF2B5EF4-FFF2-40B4-BE49-F238E27FC236}">
                <a16:creationId xmlns:a16="http://schemas.microsoft.com/office/drawing/2014/main" id="{0B4C0EB3-A4D1-7B4E-8114-08986B9B098E}"/>
              </a:ext>
            </a:extLst>
          </p:cNvPr>
          <p:cNvPicPr>
            <a:picLocks noChangeAspect="1"/>
          </p:cNvPicPr>
          <p:nvPr/>
        </p:nvPicPr>
        <p:blipFill>
          <a:blip r:embed="rId6"/>
          <a:stretch>
            <a:fillRect/>
          </a:stretch>
        </p:blipFill>
        <p:spPr>
          <a:xfrm>
            <a:off x="2877472" y="516634"/>
            <a:ext cx="3035456" cy="2853234"/>
          </a:xfrm>
          <a:prstGeom prst="rect">
            <a:avLst/>
          </a:prstGeom>
        </p:spPr>
      </p:pic>
      <p:pic>
        <p:nvPicPr>
          <p:cNvPr id="20" name="Picture 19">
            <a:extLst>
              <a:ext uri="{FF2B5EF4-FFF2-40B4-BE49-F238E27FC236}">
                <a16:creationId xmlns:a16="http://schemas.microsoft.com/office/drawing/2014/main" id="{B4B13CAC-235C-BC29-94A1-40C1C9D4E4B4}"/>
              </a:ext>
            </a:extLst>
          </p:cNvPr>
          <p:cNvPicPr>
            <a:picLocks noChangeAspect="1"/>
          </p:cNvPicPr>
          <p:nvPr/>
        </p:nvPicPr>
        <p:blipFill>
          <a:blip r:embed="rId7"/>
          <a:stretch>
            <a:fillRect/>
          </a:stretch>
        </p:blipFill>
        <p:spPr>
          <a:xfrm>
            <a:off x="165465" y="3559448"/>
            <a:ext cx="11846159" cy="1219263"/>
          </a:xfrm>
          <a:prstGeom prst="rect">
            <a:avLst/>
          </a:prstGeom>
        </p:spPr>
      </p:pic>
      <p:sp>
        <p:nvSpPr>
          <p:cNvPr id="21" name="Content Placeholder 3">
            <a:extLst>
              <a:ext uri="{FF2B5EF4-FFF2-40B4-BE49-F238E27FC236}">
                <a16:creationId xmlns:a16="http://schemas.microsoft.com/office/drawing/2014/main" id="{364C2428-AECC-3F18-5C66-8CC6E16FB7AF}"/>
              </a:ext>
            </a:extLst>
          </p:cNvPr>
          <p:cNvSpPr txBox="1">
            <a:spLocks/>
          </p:cNvSpPr>
          <p:nvPr/>
        </p:nvSpPr>
        <p:spPr>
          <a:xfrm>
            <a:off x="5912928" y="4968291"/>
            <a:ext cx="5939982" cy="1718259"/>
          </a:xfrm>
          <a:prstGeom prst="rect">
            <a:avLst/>
          </a:prstGeom>
          <a:ln w="19050">
            <a:solidFill>
              <a:srgbClr val="7030A0"/>
            </a:solidFill>
          </a:ln>
        </p:spPr>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Missing values: </a:t>
            </a:r>
            <a:r>
              <a:rPr lang="en-SG" sz="1800" b="1" dirty="0">
                <a:latin typeface="Calibri" panose="020F0502020204030204" pitchFamily="34" charset="0"/>
                <a:ea typeface="Calibri" panose="020F0502020204030204" pitchFamily="34" charset="0"/>
                <a:cs typeface="Calibri" panose="020F0502020204030204" pitchFamily="34" charset="0"/>
              </a:rPr>
              <a:t>None</a:t>
            </a:r>
          </a:p>
          <a:p>
            <a:pPr marL="285750" indent="-285750">
              <a:buFont typeface="Wingdings" panose="05000000000000000000" pitchFamily="2" charset="2"/>
              <a:buChar char="§"/>
            </a:pPr>
            <a:r>
              <a:rPr lang="en-SG" sz="1800" b="1" dirty="0">
                <a:solidFill>
                  <a:srgbClr val="7030A0"/>
                </a:solidFill>
                <a:latin typeface="Calibri" panose="020F0502020204030204" pitchFamily="34" charset="0"/>
                <a:ea typeface="Calibri" panose="020F0502020204030204" pitchFamily="34" charset="0"/>
                <a:cs typeface="Calibri" panose="020F0502020204030204" pitchFamily="34" charset="0"/>
              </a:rPr>
              <a:t>Original Data Type: </a:t>
            </a:r>
            <a:r>
              <a:rPr lang="en-SG" sz="1800" b="1" dirty="0">
                <a:latin typeface="Calibri" panose="020F0502020204030204" pitchFamily="34" charset="0"/>
                <a:ea typeface="Calibri" panose="020F0502020204030204" pitchFamily="34" charset="0"/>
                <a:cs typeface="Calibri" panose="020F0502020204030204" pitchFamily="34" charset="0"/>
              </a:rPr>
              <a:t>All variables stored as int64</a:t>
            </a:r>
          </a:p>
          <a:p>
            <a:pPr marL="285750" indent="-285750">
              <a:buFont typeface="Wingdings" panose="05000000000000000000" pitchFamily="2" charset="2"/>
              <a:buChar char="§"/>
            </a:pPr>
            <a:r>
              <a:rPr lang="en-SG" sz="1800" b="1" dirty="0">
                <a:latin typeface="Calibri" panose="020F0502020204030204" pitchFamily="34" charset="0"/>
                <a:ea typeface="Calibri" panose="020F0502020204030204" pitchFamily="34" charset="0"/>
                <a:cs typeface="Calibri" panose="020F0502020204030204" pitchFamily="34" charset="0"/>
              </a:rPr>
              <a:t>Although all variables were stored as integers, they were classified (Binary, Ordinal, Numerical) according to their meaning and measurement scale to guide data quality checks and modelling decisions.</a:t>
            </a:r>
          </a:p>
          <a:p>
            <a:pPr>
              <a:lnSpc>
                <a:spcPct val="80000"/>
              </a:lnSpc>
            </a:pPr>
            <a:endParaRPr lang="en-SG" sz="17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2548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5182F01B-3EA5-17F9-E8CF-3A4D610CC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E29B53-BC59-AC8E-0548-2D9BCE125A6B}"/>
              </a:ext>
            </a:extLst>
          </p:cNvPr>
          <p:cNvSpPr>
            <a:spLocks noGrp="1"/>
          </p:cNvSpPr>
          <p:nvPr>
            <p:ph type="title"/>
          </p:nvPr>
        </p:nvSpPr>
        <p:spPr>
          <a:xfrm>
            <a:off x="311276" y="121919"/>
            <a:ext cx="11200003" cy="487681"/>
          </a:xfrm>
        </p:spPr>
        <p:txBody>
          <a:bodyPr>
            <a:normAutofit/>
          </a:bodyPr>
          <a:lstStyle/>
          <a:p>
            <a:pPr algn="ctr"/>
            <a:r>
              <a:rPr lang="en-SG" sz="2800" b="1" dirty="0">
                <a:solidFill>
                  <a:srgbClr val="002060"/>
                </a:solidFill>
              </a:rPr>
              <a:t>DATA QUALITY &amp; DATA CLEANING</a:t>
            </a:r>
          </a:p>
        </p:txBody>
      </p:sp>
      <p:sp>
        <p:nvSpPr>
          <p:cNvPr id="3" name="Content Placeholder 2">
            <a:extLst>
              <a:ext uri="{FF2B5EF4-FFF2-40B4-BE49-F238E27FC236}">
                <a16:creationId xmlns:a16="http://schemas.microsoft.com/office/drawing/2014/main" id="{964C244C-111A-AA97-5157-20F1C77636DA}"/>
              </a:ext>
            </a:extLst>
          </p:cNvPr>
          <p:cNvSpPr>
            <a:spLocks noGrp="1"/>
          </p:cNvSpPr>
          <p:nvPr>
            <p:ph sz="quarter" idx="11"/>
          </p:nvPr>
        </p:nvSpPr>
        <p:spPr>
          <a:xfrm>
            <a:off x="152592" y="516635"/>
            <a:ext cx="11533886" cy="6219446"/>
          </a:xfrm>
          <a:solidFill>
            <a:schemeClr val="accent2">
              <a:lumMod val="40000"/>
              <a:lumOff val="60000"/>
            </a:schemeClr>
          </a:solidFill>
          <a:ln w="19050">
            <a:solidFill>
              <a:srgbClr val="7030A0"/>
            </a:solidFill>
          </a:ln>
        </p:spPr>
        <p:txBody>
          <a:bodyPr>
            <a:normAutofit/>
          </a:bodyPr>
          <a:lstStyle/>
          <a:p>
            <a:pPr>
              <a:lnSpc>
                <a:spcPct val="80000"/>
              </a:lnSpc>
            </a:pPr>
            <a:r>
              <a:rPr lang="en-SG" sz="1700" dirty="0">
                <a:latin typeface="Calibri" panose="020F0502020204030204" pitchFamily="34" charset="0"/>
                <a:ea typeface="Calibri" panose="020F0502020204030204" pitchFamily="34" charset="0"/>
                <a:cs typeface="Calibri" panose="020F0502020204030204" pitchFamily="34" charset="0"/>
              </a:rPr>
              <a:t>The Jobs-To-Be-Done (JTBD) framework focuses on Data quality assessment was performed before modelling to identify issues that could affect prediction reliability. The dataset was examined for missing values, duplicates, variable representation, and class distribution, followed by appropriate cleaning and preprocessing.</a:t>
            </a:r>
          </a:p>
          <a:p>
            <a:pPr>
              <a:lnSpc>
                <a:spcPct val="80000"/>
              </a:lnSpc>
            </a:pPr>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 AI Draft Output:                                                                                                                                     </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Comments / Review on AI Draft:</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a:t>
            </a:r>
            <a:r>
              <a:rPr lang="en-SG" sz="1700" dirty="0">
                <a:latin typeface="Calibri" panose="020F0502020204030204" pitchFamily="34" charset="0"/>
                <a:ea typeface="Calibri" panose="020F0502020204030204" pitchFamily="34" charset="0"/>
                <a:cs typeface="Calibri" panose="020F0502020204030204" pitchFamily="34" charset="0"/>
              </a:rPr>
              <a:t>provided a useful diagnostic checklist, but recommendations were refined based on </a:t>
            </a:r>
          </a:p>
          <a:p>
            <a:r>
              <a:rPr lang="en-SG" sz="1700" dirty="0">
                <a:latin typeface="Calibri" panose="020F0502020204030204" pitchFamily="34" charset="0"/>
                <a:ea typeface="Calibri" panose="020F0502020204030204" pitchFamily="34" charset="0"/>
                <a:cs typeface="Calibri" panose="020F0502020204030204" pitchFamily="34" charset="0"/>
              </a:rPr>
              <a:t>data characteristics and modelling requirements.</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dirty="0"/>
          </a:p>
        </p:txBody>
      </p:sp>
      <p:pic>
        <p:nvPicPr>
          <p:cNvPr id="7" name="Picture 6">
            <a:extLst>
              <a:ext uri="{FF2B5EF4-FFF2-40B4-BE49-F238E27FC236}">
                <a16:creationId xmlns:a16="http://schemas.microsoft.com/office/drawing/2014/main" id="{E1A10F43-20AC-8E7A-C513-6F71E5DD314A}"/>
              </a:ext>
            </a:extLst>
          </p:cNvPr>
          <p:cNvPicPr>
            <a:picLocks noChangeAspect="1"/>
          </p:cNvPicPr>
          <p:nvPr/>
        </p:nvPicPr>
        <p:blipFill>
          <a:blip r:embed="rId2"/>
          <a:stretch>
            <a:fillRect/>
          </a:stretch>
        </p:blipFill>
        <p:spPr>
          <a:xfrm>
            <a:off x="311276" y="1645091"/>
            <a:ext cx="10797906" cy="1549481"/>
          </a:xfrm>
          <a:prstGeom prst="rect">
            <a:avLst/>
          </a:prstGeom>
        </p:spPr>
      </p:pic>
      <p:pic>
        <p:nvPicPr>
          <p:cNvPr id="13" name="Picture 12">
            <a:extLst>
              <a:ext uri="{FF2B5EF4-FFF2-40B4-BE49-F238E27FC236}">
                <a16:creationId xmlns:a16="http://schemas.microsoft.com/office/drawing/2014/main" id="{E21FAC22-DAFD-EC79-7C47-87647F2A5CF1}"/>
              </a:ext>
            </a:extLst>
          </p:cNvPr>
          <p:cNvPicPr>
            <a:picLocks noChangeAspect="1"/>
          </p:cNvPicPr>
          <p:nvPr/>
        </p:nvPicPr>
        <p:blipFill>
          <a:blip r:embed="rId3"/>
          <a:stretch>
            <a:fillRect/>
          </a:stretch>
        </p:blipFill>
        <p:spPr>
          <a:xfrm>
            <a:off x="311276" y="3850744"/>
            <a:ext cx="9546402" cy="1549480"/>
          </a:xfrm>
          <a:prstGeom prst="rect">
            <a:avLst/>
          </a:prstGeom>
        </p:spPr>
      </p:pic>
    </p:spTree>
    <p:extLst>
      <p:ext uri="{BB962C8B-B14F-4D97-AF65-F5344CB8AC3E}">
        <p14:creationId xmlns:p14="http://schemas.microsoft.com/office/powerpoint/2010/main" val="1823310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4DB572E3-81E8-9DF9-7396-CA80A928F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9BA7E-0817-6A20-A393-EA4439CD5D88}"/>
              </a:ext>
            </a:extLst>
          </p:cNvPr>
          <p:cNvSpPr>
            <a:spLocks noGrp="1"/>
          </p:cNvSpPr>
          <p:nvPr>
            <p:ph type="title"/>
          </p:nvPr>
        </p:nvSpPr>
        <p:spPr>
          <a:xfrm>
            <a:off x="311276" y="121919"/>
            <a:ext cx="11200003" cy="487681"/>
          </a:xfrm>
        </p:spPr>
        <p:txBody>
          <a:bodyPr>
            <a:normAutofit/>
          </a:bodyPr>
          <a:lstStyle/>
          <a:p>
            <a:pPr algn="ctr"/>
            <a:r>
              <a:rPr lang="en-US" sz="2800" b="1" dirty="0">
                <a:solidFill>
                  <a:srgbClr val="002060"/>
                </a:solidFill>
              </a:rPr>
              <a:t>DATA CLEANING – REFINED OUTPUT</a:t>
            </a:r>
            <a:endParaRPr lang="en-SG" sz="2800" b="1" dirty="0">
              <a:solidFill>
                <a:srgbClr val="002060"/>
              </a:solidFill>
            </a:endParaRPr>
          </a:p>
        </p:txBody>
      </p:sp>
      <p:sp>
        <p:nvSpPr>
          <p:cNvPr id="3" name="Content Placeholder 2">
            <a:extLst>
              <a:ext uri="{FF2B5EF4-FFF2-40B4-BE49-F238E27FC236}">
                <a16:creationId xmlns:a16="http://schemas.microsoft.com/office/drawing/2014/main" id="{2F292AEE-33D2-517D-FA11-AE9EA02C33B2}"/>
              </a:ext>
            </a:extLst>
          </p:cNvPr>
          <p:cNvSpPr>
            <a:spLocks noGrp="1"/>
          </p:cNvSpPr>
          <p:nvPr>
            <p:ph sz="quarter" idx="11"/>
          </p:nvPr>
        </p:nvSpPr>
        <p:spPr>
          <a:xfrm>
            <a:off x="152592" y="516635"/>
            <a:ext cx="11533886" cy="6219446"/>
          </a:xfrm>
          <a:solidFill>
            <a:schemeClr val="accent2">
              <a:lumMod val="40000"/>
              <a:lumOff val="60000"/>
            </a:schemeClr>
          </a:solidFill>
          <a:ln w="19050">
            <a:solidFill>
              <a:srgbClr val="7030A0"/>
            </a:solidFill>
          </a:ln>
        </p:spPr>
        <p:txBody>
          <a:bodyPr>
            <a:normAutofit fontScale="25000" lnSpcReduction="20000"/>
          </a:bodyPr>
          <a:lstStyle/>
          <a:p>
            <a:pPr marL="285750" indent="-285750" eaLnBrk="0" fontAlgn="base" hangingPunct="0">
              <a:lnSpc>
                <a:spcPct val="120000"/>
              </a:lnSpc>
              <a:spcBef>
                <a:spcPct val="0"/>
              </a:spcBef>
              <a:spcAft>
                <a:spcPct val="0"/>
              </a:spcAft>
              <a:buFont typeface="Wingdings" panose="05000000000000000000" pitchFamily="2" charset="2"/>
              <a:buChar char="Ø"/>
            </a:pPr>
            <a:r>
              <a:rPr lang="en-US" altLang="en-US" sz="6800" b="1" dirty="0">
                <a:latin typeface="Calibri" panose="020F0502020204030204" pitchFamily="34" charset="0"/>
                <a:ea typeface="Calibri" panose="020F0502020204030204" pitchFamily="34" charset="0"/>
                <a:cs typeface="Calibri" panose="020F0502020204030204" pitchFamily="34" charset="0"/>
              </a:rPr>
              <a:t>Duplicate Records:</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24,206 duplicate rows identified (9.54%). </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Removed exact duplicates. </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Dataset reduced from 253,680 → 229,474 records. </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Removing exact duplicates prevents repeated observations from disproportionately influencing model training.</a:t>
            </a:r>
          </a:p>
          <a:p>
            <a:pPr marL="285750" indent="-285750" eaLnBrk="0" fontAlgn="base" hangingPunct="0">
              <a:lnSpc>
                <a:spcPct val="120000"/>
              </a:lnSpc>
              <a:spcBef>
                <a:spcPct val="0"/>
              </a:spcBef>
              <a:spcAft>
                <a:spcPct val="0"/>
              </a:spcAft>
              <a:buFont typeface="Wingdings" panose="05000000000000000000" pitchFamily="2" charset="2"/>
              <a:buChar char="Ø"/>
            </a:pPr>
            <a:r>
              <a:rPr lang="en-SG" sz="6800" b="1" dirty="0">
                <a:latin typeface="Calibri" panose="020F0502020204030204" pitchFamily="34" charset="0"/>
                <a:ea typeface="Calibri" panose="020F0502020204030204" pitchFamily="34" charset="0"/>
                <a:cs typeface="Calibri" panose="020F0502020204030204" pitchFamily="34" charset="0"/>
              </a:rPr>
              <a:t>Missing Values:</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No missing values detected across the dataset. </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No imputation required.</a:t>
            </a:r>
            <a:endParaRPr lang="en-SG" altLang="en-US" sz="6800"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lnSpc>
                <a:spcPct val="120000"/>
              </a:lnSpc>
              <a:spcBef>
                <a:spcPct val="0"/>
              </a:spcBef>
              <a:spcAft>
                <a:spcPct val="0"/>
              </a:spcAft>
              <a:buFont typeface="Wingdings" panose="05000000000000000000" pitchFamily="2" charset="2"/>
              <a:buChar char="Ø"/>
            </a:pPr>
            <a:r>
              <a:rPr lang="en-SG" altLang="en-US" sz="6800" b="1" dirty="0">
                <a:latin typeface="Calibri" panose="020F0502020204030204" pitchFamily="34" charset="0"/>
                <a:ea typeface="Calibri" panose="020F0502020204030204" pitchFamily="34" charset="0"/>
                <a:cs typeface="Calibri" panose="020F0502020204030204" pitchFamily="34" charset="0"/>
              </a:rPr>
              <a:t>Feature Classification</a:t>
            </a:r>
            <a:r>
              <a:rPr lang="en-SG" altLang="en-US" sz="6800" dirty="0">
                <a:latin typeface="Calibri" panose="020F0502020204030204" pitchFamily="34" charset="0"/>
                <a:ea typeface="Calibri" panose="020F0502020204030204" pitchFamily="34" charset="0"/>
                <a:cs typeface="Calibri" panose="020F0502020204030204" pitchFamily="34" charset="0"/>
              </a:rPr>
              <a:t>:</a:t>
            </a:r>
          </a:p>
          <a:p>
            <a:pPr marL="285750" indent="-285750" eaLnBrk="0" fontAlgn="base" hangingPunct="0">
              <a:lnSpc>
                <a:spcPct val="120000"/>
              </a:lnSpc>
              <a:spcBef>
                <a:spcPct val="0"/>
              </a:spcBef>
              <a:spcAft>
                <a:spcPct val="0"/>
              </a:spcAft>
              <a:buFont typeface="Wingdings" panose="05000000000000000000" pitchFamily="2" charset="2"/>
              <a:buChar char="§"/>
            </a:pPr>
            <a:r>
              <a:rPr lang="en-SG" altLang="en-US" sz="6800" dirty="0">
                <a:latin typeface="Calibri" panose="020F0502020204030204" pitchFamily="34" charset="0"/>
                <a:ea typeface="Calibri" panose="020F0502020204030204" pitchFamily="34" charset="0"/>
                <a:cs typeface="Calibri" panose="020F0502020204030204" pitchFamily="34" charset="0"/>
              </a:rPr>
              <a:t>The 22 variables were classified into Binary, Ordinal and Numeric features based on their values and meaning.</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	Binary: 15 variables (</a:t>
            </a:r>
            <a:r>
              <a:rPr lang="en-SG" sz="6800" dirty="0" err="1">
                <a:latin typeface="Calibri" panose="020F0502020204030204" pitchFamily="34" charset="0"/>
                <a:ea typeface="Calibri" panose="020F0502020204030204" pitchFamily="34" charset="0"/>
                <a:cs typeface="Calibri" panose="020F0502020204030204" pitchFamily="34" charset="0"/>
              </a:rPr>
              <a:t>HighBP</a:t>
            </a:r>
            <a:r>
              <a:rPr lang="en-SG" sz="6800" dirty="0">
                <a:latin typeface="Calibri" panose="020F0502020204030204" pitchFamily="34" charset="0"/>
                <a:ea typeface="Calibri" panose="020F0502020204030204" pitchFamily="34" charset="0"/>
                <a:cs typeface="Calibri" panose="020F0502020204030204" pitchFamily="34" charset="0"/>
              </a:rPr>
              <a:t>, </a:t>
            </a:r>
            <a:r>
              <a:rPr lang="en-SG" sz="6800" dirty="0" err="1">
                <a:latin typeface="Calibri" panose="020F0502020204030204" pitchFamily="34" charset="0"/>
                <a:ea typeface="Calibri" panose="020F0502020204030204" pitchFamily="34" charset="0"/>
                <a:cs typeface="Calibri" panose="020F0502020204030204" pitchFamily="34" charset="0"/>
              </a:rPr>
              <a:t>HighChol</a:t>
            </a:r>
            <a:r>
              <a:rPr lang="en-SG" sz="6800" dirty="0">
                <a:latin typeface="Calibri" panose="020F0502020204030204" pitchFamily="34" charset="0"/>
                <a:ea typeface="Calibri" panose="020F0502020204030204" pitchFamily="34" charset="0"/>
                <a:cs typeface="Calibri" panose="020F0502020204030204" pitchFamily="34" charset="0"/>
              </a:rPr>
              <a:t>, Smoker, Stroke, Sex,…)</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	Ordinal: 4 variables (</a:t>
            </a:r>
            <a:r>
              <a:rPr lang="en-SG" sz="6800" dirty="0" err="1">
                <a:latin typeface="Calibri" panose="020F0502020204030204" pitchFamily="34" charset="0"/>
                <a:ea typeface="Calibri" panose="020F0502020204030204" pitchFamily="34" charset="0"/>
                <a:cs typeface="Calibri" panose="020F0502020204030204" pitchFamily="34" charset="0"/>
              </a:rPr>
              <a:t>GenHlth</a:t>
            </a:r>
            <a:r>
              <a:rPr lang="en-SG" sz="6800" dirty="0">
                <a:latin typeface="Calibri" panose="020F0502020204030204" pitchFamily="34" charset="0"/>
                <a:ea typeface="Calibri" panose="020F0502020204030204" pitchFamily="34" charset="0"/>
                <a:cs typeface="Calibri" panose="020F0502020204030204" pitchFamily="34" charset="0"/>
              </a:rPr>
              <a:t>, Age, Education, Income)</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	Numeric: 3 variables (BMI, </a:t>
            </a:r>
            <a:r>
              <a:rPr lang="en-SG" sz="6800" dirty="0" err="1">
                <a:latin typeface="Calibri" panose="020F0502020204030204" pitchFamily="34" charset="0"/>
                <a:ea typeface="Calibri" panose="020F0502020204030204" pitchFamily="34" charset="0"/>
                <a:cs typeface="Calibri" panose="020F0502020204030204" pitchFamily="34" charset="0"/>
              </a:rPr>
              <a:t>MentHlth</a:t>
            </a:r>
            <a:r>
              <a:rPr lang="en-SG" sz="6800" dirty="0">
                <a:latin typeface="Calibri" panose="020F0502020204030204" pitchFamily="34" charset="0"/>
                <a:ea typeface="Calibri" panose="020F0502020204030204" pitchFamily="34" charset="0"/>
                <a:cs typeface="Calibri" panose="020F0502020204030204" pitchFamily="34" charset="0"/>
              </a:rPr>
              <a:t>, </a:t>
            </a:r>
            <a:r>
              <a:rPr lang="en-SG" sz="6800" dirty="0" err="1">
                <a:latin typeface="Calibri" panose="020F0502020204030204" pitchFamily="34" charset="0"/>
                <a:ea typeface="Calibri" panose="020F0502020204030204" pitchFamily="34" charset="0"/>
                <a:cs typeface="Calibri" panose="020F0502020204030204" pitchFamily="34" charset="0"/>
              </a:rPr>
              <a:t>PhysHlth</a:t>
            </a:r>
            <a:r>
              <a:rPr lang="en-SG" sz="6800" dirty="0">
                <a:latin typeface="Calibri" panose="020F0502020204030204" pitchFamily="34" charset="0"/>
                <a:ea typeface="Calibri" panose="020F0502020204030204" pitchFamily="34" charset="0"/>
                <a:cs typeface="Calibri" panose="020F0502020204030204" pitchFamily="34" charset="0"/>
              </a:rPr>
              <a:t>)</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This classification determines how the variables should be handled during preprocessing and modelling.</a:t>
            </a:r>
            <a:endParaRPr lang="en-SG" altLang="en-US" sz="6800" dirty="0">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lnSpc>
                <a:spcPct val="120000"/>
              </a:lnSpc>
              <a:spcBef>
                <a:spcPct val="0"/>
              </a:spcBef>
              <a:spcAft>
                <a:spcPct val="0"/>
              </a:spcAft>
              <a:buFont typeface="Wingdings" panose="05000000000000000000" pitchFamily="2" charset="2"/>
              <a:buChar char="Ø"/>
            </a:pPr>
            <a:r>
              <a:rPr lang="en-SG" sz="6800" b="1" dirty="0">
                <a:latin typeface="Calibri" panose="020F0502020204030204" pitchFamily="34" charset="0"/>
                <a:ea typeface="Calibri" panose="020F0502020204030204" pitchFamily="34" charset="0"/>
                <a:cs typeface="Calibri" panose="020F0502020204030204" pitchFamily="34" charset="0"/>
              </a:rPr>
              <a:t>Outlier Detection:</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Potential outliers were identified in BMI, </a:t>
            </a:r>
            <a:r>
              <a:rPr lang="en-SG" sz="6800" dirty="0" err="1">
                <a:latin typeface="Calibri" panose="020F0502020204030204" pitchFamily="34" charset="0"/>
                <a:ea typeface="Calibri" panose="020F0502020204030204" pitchFamily="34" charset="0"/>
                <a:cs typeface="Calibri" panose="020F0502020204030204" pitchFamily="34" charset="0"/>
              </a:rPr>
              <a:t>MentHlth</a:t>
            </a:r>
            <a:r>
              <a:rPr lang="en-SG" sz="6800" dirty="0">
                <a:latin typeface="Calibri" panose="020F0502020204030204" pitchFamily="34" charset="0"/>
                <a:ea typeface="Calibri" panose="020F0502020204030204" pitchFamily="34" charset="0"/>
                <a:cs typeface="Calibri" panose="020F0502020204030204" pitchFamily="34" charset="0"/>
              </a:rPr>
              <a:t> and </a:t>
            </a:r>
            <a:r>
              <a:rPr lang="en-SG" sz="6800" dirty="0" err="1">
                <a:latin typeface="Calibri" panose="020F0502020204030204" pitchFamily="34" charset="0"/>
                <a:ea typeface="Calibri" panose="020F0502020204030204" pitchFamily="34" charset="0"/>
                <a:cs typeface="Calibri" panose="020F0502020204030204" pitchFamily="34" charset="0"/>
              </a:rPr>
              <a:t>PhysHlth</a:t>
            </a:r>
            <a:r>
              <a:rPr lang="en-SG" sz="6800" dirty="0">
                <a:latin typeface="Calibri" panose="020F0502020204030204" pitchFamily="34" charset="0"/>
                <a:ea typeface="Calibri" panose="020F0502020204030204" pitchFamily="34" charset="0"/>
                <a:cs typeface="Calibri" panose="020F0502020204030204" pitchFamily="34" charset="0"/>
              </a:rPr>
              <a:t> </a:t>
            </a:r>
          </a:p>
          <a:p>
            <a:pPr eaLnBrk="0" fontAlgn="base" hangingPunct="0">
              <a:lnSpc>
                <a:spcPct val="120000"/>
              </a:lnSpc>
              <a:spcBef>
                <a:spcPct val="0"/>
              </a:spcBef>
              <a:spcAft>
                <a:spcPct val="0"/>
              </a:spcAft>
            </a:pPr>
            <a:r>
              <a:rPr lang="en-SG" sz="6800" dirty="0">
                <a:latin typeface="Calibri" panose="020F0502020204030204" pitchFamily="34" charset="0"/>
                <a:ea typeface="Calibri" panose="020F0502020204030204" pitchFamily="34" charset="0"/>
                <a:cs typeface="Calibri" panose="020F0502020204030204" pitchFamily="34" charset="0"/>
              </a:rPr>
              <a:t>      using the IQR method.</a:t>
            </a:r>
          </a:p>
          <a:p>
            <a:pPr marL="285750" indent="-285750" eaLnBrk="0" fontAlgn="base" hangingPunct="0">
              <a:lnSpc>
                <a:spcPct val="120000"/>
              </a:lnSpc>
              <a:spcBef>
                <a:spcPct val="0"/>
              </a:spcBef>
              <a:spcAft>
                <a:spcPct val="0"/>
              </a:spcAft>
              <a:buFont typeface="Wingdings" panose="05000000000000000000" pitchFamily="2" charset="2"/>
              <a:buChar char="§"/>
            </a:pPr>
            <a:r>
              <a:rPr lang="en-SG" sz="6800" dirty="0">
                <a:latin typeface="Calibri" panose="020F0502020204030204" pitchFamily="34" charset="0"/>
                <a:ea typeface="Calibri" panose="020F0502020204030204" pitchFamily="34" charset="0"/>
                <a:cs typeface="Calibri" panose="020F0502020204030204" pitchFamily="34" charset="0"/>
              </a:rPr>
              <a:t>Potential outliers were identified for investigation rather than </a:t>
            </a:r>
          </a:p>
          <a:p>
            <a:pPr eaLnBrk="0" fontAlgn="base" hangingPunct="0">
              <a:lnSpc>
                <a:spcPct val="120000"/>
              </a:lnSpc>
              <a:spcBef>
                <a:spcPct val="0"/>
              </a:spcBef>
              <a:spcAft>
                <a:spcPct val="0"/>
              </a:spcAft>
            </a:pPr>
            <a:r>
              <a:rPr lang="en-SG" sz="6800" dirty="0">
                <a:latin typeface="Calibri" panose="020F0502020204030204" pitchFamily="34" charset="0"/>
                <a:ea typeface="Calibri" panose="020F0502020204030204" pitchFamily="34" charset="0"/>
                <a:cs typeface="Calibri" panose="020F0502020204030204" pitchFamily="34" charset="0"/>
              </a:rPr>
              <a:t>     automatically removed, as extreme values may represent </a:t>
            </a:r>
          </a:p>
          <a:p>
            <a:pPr eaLnBrk="0" fontAlgn="base" hangingPunct="0">
              <a:lnSpc>
                <a:spcPct val="120000"/>
              </a:lnSpc>
              <a:spcBef>
                <a:spcPct val="0"/>
              </a:spcBef>
              <a:spcAft>
                <a:spcPct val="0"/>
              </a:spcAft>
            </a:pPr>
            <a:r>
              <a:rPr lang="en-SG" sz="6800" dirty="0">
                <a:latin typeface="Calibri" panose="020F0502020204030204" pitchFamily="34" charset="0"/>
                <a:ea typeface="Calibri" panose="020F0502020204030204" pitchFamily="34" charset="0"/>
                <a:cs typeface="Calibri" panose="020F0502020204030204" pitchFamily="34" charset="0"/>
              </a:rPr>
              <a:t>     genuine patient observations.</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r>
              <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rPr>
              <a:t>AI </a:t>
            </a:r>
            <a:r>
              <a:rPr lang="en-SG" sz="1700" dirty="0">
                <a:latin typeface="Calibri" panose="020F0502020204030204" pitchFamily="34" charset="0"/>
                <a:ea typeface="Calibri" panose="020F0502020204030204" pitchFamily="34" charset="0"/>
                <a:cs typeface="Calibri" panose="020F0502020204030204" pitchFamily="34" charset="0"/>
              </a:rPr>
              <a:t>provided a useful diagnostic checklist, but recommendations were refined based on </a:t>
            </a:r>
          </a:p>
          <a:p>
            <a:r>
              <a:rPr lang="en-SG" sz="1700" dirty="0">
                <a:latin typeface="Calibri" panose="020F0502020204030204" pitchFamily="34" charset="0"/>
                <a:ea typeface="Calibri" panose="020F0502020204030204" pitchFamily="34" charset="0"/>
                <a:cs typeface="Calibri" panose="020F0502020204030204" pitchFamily="34" charset="0"/>
              </a:rPr>
              <a:t>data characteristics and modelling requirements.</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dirty="0"/>
          </a:p>
        </p:txBody>
      </p:sp>
      <p:pic>
        <p:nvPicPr>
          <p:cNvPr id="5" name="Picture 4">
            <a:extLst>
              <a:ext uri="{FF2B5EF4-FFF2-40B4-BE49-F238E27FC236}">
                <a16:creationId xmlns:a16="http://schemas.microsoft.com/office/drawing/2014/main" id="{F70E7025-C50F-96AE-9B4E-CBF21C489942}"/>
              </a:ext>
            </a:extLst>
          </p:cNvPr>
          <p:cNvPicPr>
            <a:picLocks noChangeAspect="1"/>
          </p:cNvPicPr>
          <p:nvPr/>
        </p:nvPicPr>
        <p:blipFill>
          <a:blip r:embed="rId2"/>
          <a:stretch>
            <a:fillRect/>
          </a:stretch>
        </p:blipFill>
        <p:spPr>
          <a:xfrm>
            <a:off x="7406641" y="4234600"/>
            <a:ext cx="3883922" cy="2324219"/>
          </a:xfrm>
          <a:prstGeom prst="rect">
            <a:avLst/>
          </a:prstGeom>
        </p:spPr>
      </p:pic>
    </p:spTree>
    <p:extLst>
      <p:ext uri="{BB962C8B-B14F-4D97-AF65-F5344CB8AC3E}">
        <p14:creationId xmlns:p14="http://schemas.microsoft.com/office/powerpoint/2010/main" val="64182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0279A8CE-CD0C-E0B1-2BCE-B2F6A0AF4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BE010-989A-111B-1956-D4B973F8CEE8}"/>
              </a:ext>
            </a:extLst>
          </p:cNvPr>
          <p:cNvSpPr>
            <a:spLocks noGrp="1"/>
          </p:cNvSpPr>
          <p:nvPr>
            <p:ph type="title"/>
          </p:nvPr>
        </p:nvSpPr>
        <p:spPr>
          <a:xfrm>
            <a:off x="311276" y="121919"/>
            <a:ext cx="11200003" cy="487681"/>
          </a:xfrm>
        </p:spPr>
        <p:txBody>
          <a:bodyPr>
            <a:normAutofit/>
          </a:bodyPr>
          <a:lstStyle/>
          <a:p>
            <a:pPr algn="ctr"/>
            <a:r>
              <a:rPr lang="en-SG" sz="2800" b="1" dirty="0">
                <a:solidFill>
                  <a:srgbClr val="002060"/>
                </a:solidFill>
              </a:rPr>
              <a:t>FEATURE ENGINEERING &amp; TRANSFORMATIONS</a:t>
            </a:r>
          </a:p>
        </p:txBody>
      </p:sp>
      <p:sp>
        <p:nvSpPr>
          <p:cNvPr id="3" name="Content Placeholder 2">
            <a:extLst>
              <a:ext uri="{FF2B5EF4-FFF2-40B4-BE49-F238E27FC236}">
                <a16:creationId xmlns:a16="http://schemas.microsoft.com/office/drawing/2014/main" id="{7E59D68E-DBD7-42FA-C35C-17F2CB005EF3}"/>
              </a:ext>
            </a:extLst>
          </p:cNvPr>
          <p:cNvSpPr>
            <a:spLocks noGrp="1"/>
          </p:cNvSpPr>
          <p:nvPr>
            <p:ph sz="quarter" idx="11"/>
          </p:nvPr>
        </p:nvSpPr>
        <p:spPr>
          <a:xfrm>
            <a:off x="329057" y="516635"/>
            <a:ext cx="11533886" cy="6219446"/>
          </a:xfrm>
          <a:solidFill>
            <a:schemeClr val="accent2">
              <a:lumMod val="40000"/>
              <a:lumOff val="60000"/>
            </a:schemeClr>
          </a:solidFill>
          <a:ln w="19050">
            <a:solidFill>
              <a:srgbClr val="7030A0"/>
            </a:solidFill>
          </a:ln>
        </p:spPr>
        <p:txBody>
          <a:bodyPr>
            <a:normAutofit/>
          </a:bodyPr>
          <a:lstStyle/>
          <a:p>
            <a:pPr fontAlgn="base">
              <a:spcAft>
                <a:spcPct val="0"/>
              </a:spcAft>
            </a:pPr>
            <a:r>
              <a:rPr lang="en-SG" sz="1800" dirty="0">
                <a:latin typeface="Calibri" panose="020F0502020204030204" pitchFamily="34" charset="0"/>
                <a:ea typeface="Calibri" panose="020F0502020204030204" pitchFamily="34" charset="0"/>
                <a:cs typeface="Calibri" panose="020F0502020204030204" pitchFamily="34" charset="0"/>
              </a:rPr>
              <a:t>Feature engineering was focused on preserving the information contained in the CDC health indicators while applying only the transformations required for reliable model training. Variables were classified according to their characteristics, and preprocessing was applied consistently within the modelling pipeline.</a:t>
            </a: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pPr fontAlgn="base">
              <a:spcAft>
                <a:spcPct val="0"/>
              </a:spcAft>
            </a:pPr>
            <a:r>
              <a:rPr lang="en-SG" sz="1800" b="1" dirty="0">
                <a:latin typeface="Calibri" panose="020F0502020204030204" pitchFamily="34" charset="0"/>
                <a:ea typeface="Calibri" panose="020F0502020204030204" pitchFamily="34" charset="0"/>
                <a:cs typeface="Calibri" panose="020F0502020204030204" pitchFamily="34" charset="0"/>
              </a:rPr>
              <a:t>Decision:</a:t>
            </a:r>
          </a:p>
          <a:p>
            <a:pPr fontAlgn="base">
              <a:spcAft>
                <a:spcPct val="0"/>
              </a:spcAft>
            </a:pPr>
            <a:r>
              <a:rPr lang="en-US" sz="1800" dirty="0">
                <a:latin typeface="Calibri" panose="020F0502020204030204" pitchFamily="34" charset="0"/>
                <a:ea typeface="Calibri" panose="020F0502020204030204" pitchFamily="34" charset="0"/>
                <a:cs typeface="Calibri" panose="020F0502020204030204" pitchFamily="34" charset="0"/>
              </a:rPr>
              <a:t>Preserve the original feature information wherever possible and avoid unnecessary feature engineering. Transformations were applied only when they had a clear technical justification.</a:t>
            </a:r>
            <a:endParaRPr lang="en-US" altLang="en-US" sz="1800" dirty="0">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dirty="0"/>
          </a:p>
        </p:txBody>
      </p:sp>
      <p:pic>
        <p:nvPicPr>
          <p:cNvPr id="8" name="Picture 7">
            <a:extLst>
              <a:ext uri="{FF2B5EF4-FFF2-40B4-BE49-F238E27FC236}">
                <a16:creationId xmlns:a16="http://schemas.microsoft.com/office/drawing/2014/main" id="{8604C852-7B8F-B2F4-E82F-19DC83531F58}"/>
              </a:ext>
            </a:extLst>
          </p:cNvPr>
          <p:cNvPicPr>
            <a:picLocks noChangeAspect="1"/>
          </p:cNvPicPr>
          <p:nvPr/>
        </p:nvPicPr>
        <p:blipFill>
          <a:blip r:embed="rId2"/>
          <a:stretch>
            <a:fillRect/>
          </a:stretch>
        </p:blipFill>
        <p:spPr>
          <a:xfrm>
            <a:off x="495998" y="1497610"/>
            <a:ext cx="11200003" cy="3954500"/>
          </a:xfrm>
          <a:prstGeom prst="rect">
            <a:avLst/>
          </a:prstGeom>
        </p:spPr>
      </p:pic>
    </p:spTree>
    <p:extLst>
      <p:ext uri="{BB962C8B-B14F-4D97-AF65-F5344CB8AC3E}">
        <p14:creationId xmlns:p14="http://schemas.microsoft.com/office/powerpoint/2010/main" val="138780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A710A-C760-B734-B4AF-A19969192953}"/>
              </a:ext>
            </a:extLst>
          </p:cNvPr>
          <p:cNvSpPr>
            <a:spLocks noGrp="1"/>
          </p:cNvSpPr>
          <p:nvPr>
            <p:ph type="title"/>
          </p:nvPr>
        </p:nvSpPr>
        <p:spPr>
          <a:xfrm>
            <a:off x="357166" y="97971"/>
            <a:ext cx="11611779" cy="677992"/>
          </a:xfrm>
        </p:spPr>
        <p:txBody>
          <a:bodyPr>
            <a:noAutofit/>
          </a:bodyPr>
          <a:lstStyle/>
          <a:p>
            <a:r>
              <a:rPr lang="en-SG" sz="2200" b="1" dirty="0">
                <a:solidFill>
                  <a:srgbClr val="002060"/>
                </a:solidFill>
              </a:rPr>
              <a:t> </a:t>
            </a: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r>
              <a:rPr lang="en-SG" sz="2200" b="1" dirty="0">
                <a:solidFill>
                  <a:srgbClr val="002060"/>
                </a:solidFill>
              </a:rPr>
              <a:t>CLASS IMBALANCE HANDLING – COMPARING SAMPLING STRATEGIES</a:t>
            </a:r>
            <a:br>
              <a:rPr lang="en-SG" sz="2000" b="1" dirty="0">
                <a:solidFill>
                  <a:srgbClr val="002060"/>
                </a:solidFill>
              </a:rPr>
            </a:br>
            <a:endParaRPr lang="en-SG" sz="1500" b="1" dirty="0"/>
          </a:p>
        </p:txBody>
      </p:sp>
      <p:sp>
        <p:nvSpPr>
          <p:cNvPr id="4" name="Content Placeholder 3">
            <a:extLst>
              <a:ext uri="{FF2B5EF4-FFF2-40B4-BE49-F238E27FC236}">
                <a16:creationId xmlns:a16="http://schemas.microsoft.com/office/drawing/2014/main" id="{EFE872FC-F2FC-E77C-CFC3-EEE9980F2AAE}"/>
              </a:ext>
            </a:extLst>
          </p:cNvPr>
          <p:cNvSpPr>
            <a:spLocks noGrp="1"/>
          </p:cNvSpPr>
          <p:nvPr>
            <p:ph sz="quarter" idx="12"/>
          </p:nvPr>
        </p:nvSpPr>
        <p:spPr>
          <a:xfrm>
            <a:off x="7833748" y="1288109"/>
            <a:ext cx="4239380" cy="5440405"/>
          </a:xfrm>
          <a:ln w="12700">
            <a:solidFill>
              <a:srgbClr val="7030A0"/>
            </a:solidFill>
          </a:ln>
        </p:spPr>
        <p:txBody>
          <a:bodyPr>
            <a:normAutofit fontScale="25000" lnSpcReduction="20000"/>
          </a:bodyPr>
          <a:lstStyle/>
          <a:p>
            <a:r>
              <a:rPr lang="en-SG" sz="6400" b="1" dirty="0">
                <a:latin typeface="Calibri" panose="020F0502020204030204" pitchFamily="34" charset="0"/>
                <a:ea typeface="Calibri" panose="020F0502020204030204" pitchFamily="34" charset="0"/>
                <a:cs typeface="Calibri" panose="020F0502020204030204" pitchFamily="34" charset="0"/>
              </a:rPr>
              <a:t>Key Evaluation Metrics:</a:t>
            </a:r>
          </a:p>
          <a:p>
            <a:pPr marL="285750" indent="-285750">
              <a:buFont typeface="Wingdings" panose="05000000000000000000" pitchFamily="2" charset="2"/>
              <a:buChar char="§"/>
            </a:pPr>
            <a:r>
              <a:rPr lang="en-SG" sz="6400" b="1" dirty="0">
                <a:latin typeface="Calibri" panose="020F0502020204030204" pitchFamily="34" charset="0"/>
                <a:ea typeface="Calibri" panose="020F0502020204030204" pitchFamily="34" charset="0"/>
                <a:cs typeface="Calibri" panose="020F0502020204030204" pitchFamily="34" charset="0"/>
              </a:rPr>
              <a:t>Recall – </a:t>
            </a:r>
            <a:r>
              <a:rPr lang="en-SG" sz="6400" dirty="0">
                <a:latin typeface="Calibri" panose="020F0502020204030204" pitchFamily="34" charset="0"/>
                <a:ea typeface="Calibri" panose="020F0502020204030204" pitchFamily="34" charset="0"/>
                <a:cs typeface="Calibri" panose="020F0502020204030204" pitchFamily="34" charset="0"/>
              </a:rPr>
              <a:t>ability to identify actual diabetes cases</a:t>
            </a:r>
          </a:p>
          <a:p>
            <a:pPr marL="285750" lvl="0" indent="-285750">
              <a:buFont typeface="Wingdings" panose="05000000000000000000" pitchFamily="2" charset="2"/>
              <a:buChar char="§"/>
            </a:pPr>
            <a:r>
              <a:rPr lang="en-SG" sz="6400" b="1" dirty="0">
                <a:latin typeface="Calibri" panose="020F0502020204030204" pitchFamily="34" charset="0"/>
                <a:ea typeface="Calibri" panose="020F0502020204030204" pitchFamily="34" charset="0"/>
                <a:cs typeface="Calibri" panose="020F0502020204030204" pitchFamily="34" charset="0"/>
              </a:rPr>
              <a:t>F1-score </a:t>
            </a:r>
            <a:r>
              <a:rPr lang="en-SG" sz="6400" dirty="0">
                <a:latin typeface="Calibri" panose="020F0502020204030204" pitchFamily="34" charset="0"/>
                <a:ea typeface="Calibri" panose="020F0502020204030204" pitchFamily="34" charset="0"/>
                <a:cs typeface="Calibri" panose="020F0502020204030204" pitchFamily="34" charset="0"/>
              </a:rPr>
              <a:t>– balance between Precision and Recall </a:t>
            </a:r>
          </a:p>
          <a:p>
            <a:pPr marL="285750" lvl="0" indent="-285750">
              <a:buFont typeface="Wingdings" panose="05000000000000000000" pitchFamily="2" charset="2"/>
              <a:buChar char="§"/>
            </a:pPr>
            <a:r>
              <a:rPr lang="en-SG" sz="6400" b="1" dirty="0">
                <a:latin typeface="Calibri" panose="020F0502020204030204" pitchFamily="34" charset="0"/>
                <a:ea typeface="Calibri" panose="020F0502020204030204" pitchFamily="34" charset="0"/>
                <a:cs typeface="Calibri" panose="020F0502020204030204" pitchFamily="34" charset="0"/>
              </a:rPr>
              <a:t>ROC-AUC</a:t>
            </a:r>
            <a:r>
              <a:rPr lang="en-SG" sz="6400" dirty="0">
                <a:latin typeface="Calibri" panose="020F0502020204030204" pitchFamily="34" charset="0"/>
                <a:ea typeface="Calibri" panose="020F0502020204030204" pitchFamily="34" charset="0"/>
                <a:cs typeface="Calibri" panose="020F0502020204030204" pitchFamily="34" charset="0"/>
              </a:rPr>
              <a:t> – ability to distinguish between the two classes </a:t>
            </a:r>
          </a:p>
          <a:p>
            <a:pPr marL="285750" lvl="0" indent="-285750">
              <a:buFont typeface="Wingdings" panose="05000000000000000000" pitchFamily="2" charset="2"/>
              <a:buChar char="§"/>
            </a:pPr>
            <a:r>
              <a:rPr lang="en-SG" sz="6400" b="1" dirty="0">
                <a:latin typeface="Calibri" panose="020F0502020204030204" pitchFamily="34" charset="0"/>
                <a:ea typeface="Calibri" panose="020F0502020204030204" pitchFamily="34" charset="0"/>
                <a:cs typeface="Calibri" panose="020F0502020204030204" pitchFamily="34" charset="0"/>
              </a:rPr>
              <a:t>MCC</a:t>
            </a:r>
            <a:r>
              <a:rPr lang="en-SG" sz="6400" dirty="0">
                <a:latin typeface="Calibri" panose="020F0502020204030204" pitchFamily="34" charset="0"/>
                <a:ea typeface="Calibri" panose="020F0502020204030204" pitchFamily="34" charset="0"/>
                <a:cs typeface="Calibri" panose="020F0502020204030204" pitchFamily="34" charset="0"/>
              </a:rPr>
              <a:t> – balanced measure for imbalanced classification </a:t>
            </a:r>
          </a:p>
          <a:p>
            <a:pPr marL="285750" lvl="0" indent="-285750">
              <a:buFont typeface="Wingdings" panose="05000000000000000000" pitchFamily="2" charset="2"/>
              <a:buChar char="§"/>
            </a:pPr>
            <a:r>
              <a:rPr lang="en-SG" sz="6400" b="1" dirty="0">
                <a:latin typeface="Calibri" panose="020F0502020204030204" pitchFamily="34" charset="0"/>
                <a:ea typeface="Calibri" panose="020F0502020204030204" pitchFamily="34" charset="0"/>
                <a:cs typeface="Calibri" panose="020F0502020204030204" pitchFamily="34" charset="0"/>
              </a:rPr>
              <a:t>Accuracy – </a:t>
            </a:r>
            <a:r>
              <a:rPr lang="en-SG" sz="6400" dirty="0">
                <a:latin typeface="Calibri" panose="020F0502020204030204" pitchFamily="34" charset="0"/>
                <a:ea typeface="Calibri" panose="020F0502020204030204" pitchFamily="34" charset="0"/>
                <a:cs typeface="Calibri" panose="020F0502020204030204" pitchFamily="34" charset="0"/>
              </a:rPr>
              <a:t>supporting metric, not used alone</a:t>
            </a:r>
          </a:p>
          <a:p>
            <a:pPr lvl="0"/>
            <a:r>
              <a:rPr lang="en-SG" sz="6400" dirty="0">
                <a:latin typeface="Calibri" panose="020F0502020204030204" pitchFamily="34" charset="0"/>
                <a:ea typeface="Calibri" panose="020F0502020204030204" pitchFamily="34" charset="0"/>
                <a:cs typeface="Calibri" panose="020F0502020204030204" pitchFamily="34" charset="0"/>
              </a:rPr>
              <a:t>Recall and F1-score were given greater importance because the project aims to identify potentially high-risk individuals for screening and preventive intervention. </a:t>
            </a:r>
          </a:p>
          <a:p>
            <a:pPr lvl="0"/>
            <a:r>
              <a:rPr lang="en-SG" sz="6400" b="1" dirty="0">
                <a:latin typeface="Calibri" panose="020F0502020204030204" pitchFamily="34" charset="0"/>
                <a:ea typeface="Calibri" panose="020F0502020204030204" pitchFamily="34" charset="0"/>
                <a:cs typeface="Calibri" panose="020F0502020204030204" pitchFamily="34" charset="0"/>
              </a:rPr>
              <a:t>Decision: </a:t>
            </a:r>
            <a:r>
              <a:rPr lang="en-SG" sz="6400" b="1" dirty="0">
                <a:highlight>
                  <a:srgbClr val="00FFFF"/>
                </a:highlight>
                <a:latin typeface="Calibri" panose="020F0502020204030204" pitchFamily="34" charset="0"/>
                <a:ea typeface="Calibri" panose="020F0502020204030204" pitchFamily="34" charset="0"/>
                <a:cs typeface="Calibri" panose="020F0502020204030204" pitchFamily="34" charset="0"/>
              </a:rPr>
              <a:t>Random Oversampling Selected</a:t>
            </a:r>
          </a:p>
          <a:p>
            <a:pPr lvl="0"/>
            <a:r>
              <a:rPr lang="en-SG" sz="6400" dirty="0">
                <a:latin typeface="Calibri" panose="020F0502020204030204" pitchFamily="34" charset="0"/>
                <a:ea typeface="Calibri" panose="020F0502020204030204" pitchFamily="34" charset="0"/>
                <a:cs typeface="Calibri" panose="020F0502020204030204" pitchFamily="34" charset="0"/>
              </a:rPr>
              <a:t>Random Oversampling was selected as the preferred class-imbalance strategy because it substantially improved detection of the minority class. Across the evaluated models, it produces strong Recall and F1 performance while maintaining competitive MCC values.</a:t>
            </a:r>
          </a:p>
          <a:p>
            <a:pPr marL="285750" indent="-285750">
              <a:buFont typeface="Arial" panose="020B0604020202020204" pitchFamily="34" charset="0"/>
              <a:buChar char="•"/>
            </a:pPr>
            <a:endParaRPr lang="en-SG" sz="1500" dirty="0"/>
          </a:p>
        </p:txBody>
      </p:sp>
      <p:sp>
        <p:nvSpPr>
          <p:cNvPr id="12" name="TextBox 11">
            <a:extLst>
              <a:ext uri="{FF2B5EF4-FFF2-40B4-BE49-F238E27FC236}">
                <a16:creationId xmlns:a16="http://schemas.microsoft.com/office/drawing/2014/main" id="{FD521312-A15F-0053-8F93-21ED85A6D1FF}"/>
              </a:ext>
            </a:extLst>
          </p:cNvPr>
          <p:cNvSpPr txBox="1"/>
          <p:nvPr/>
        </p:nvSpPr>
        <p:spPr>
          <a:xfrm>
            <a:off x="118871" y="1280869"/>
            <a:ext cx="7631757" cy="5447645"/>
          </a:xfrm>
          <a:prstGeom prst="rect">
            <a:avLst/>
          </a:prstGeom>
          <a:noFill/>
          <a:ln w="12700">
            <a:solidFill>
              <a:srgbClr val="7030A0"/>
            </a:solidFill>
          </a:ln>
        </p:spPr>
        <p:txBody>
          <a:bodyPr wrap="square" rtlCol="0">
            <a:spAutoFit/>
          </a:bodyPr>
          <a:lstStyle/>
          <a:p>
            <a:pPr marL="285750" indent="-285750">
              <a:buFont typeface="Wingdings" panose="05000000000000000000" pitchFamily="2" charset="2"/>
              <a:buChar char="Ø"/>
            </a:pPr>
            <a:r>
              <a:rPr lang="en-SG" b="1" dirty="0">
                <a:latin typeface="Calibri" panose="020F0502020204030204" pitchFamily="34" charset="0"/>
                <a:ea typeface="Calibri" panose="020F0502020204030204" pitchFamily="34" charset="0"/>
                <a:cs typeface="Calibri" panose="020F0502020204030204" pitchFamily="34" charset="0"/>
              </a:rPr>
              <a:t>Original Data</a:t>
            </a:r>
            <a:r>
              <a:rPr lang="en-SG" dirty="0">
                <a:latin typeface="Calibri" panose="020F0502020204030204" pitchFamily="34" charset="0"/>
                <a:ea typeface="Calibri" panose="020F0502020204030204" pitchFamily="34" charset="0"/>
                <a:cs typeface="Calibri" panose="020F0502020204030204" pitchFamily="34" charset="0"/>
              </a:rPr>
              <a:t>: </a:t>
            </a:r>
            <a:r>
              <a:rPr lang="en-SG" sz="1600" dirty="0">
                <a:latin typeface="Calibri" panose="020F0502020204030204" pitchFamily="34" charset="0"/>
                <a:ea typeface="Calibri" panose="020F0502020204030204" pitchFamily="34" charset="0"/>
                <a:cs typeface="Calibri" panose="020F0502020204030204" pitchFamily="34" charset="0"/>
              </a:rPr>
              <a:t>Preserve the original class distribution. Provides a baseline for comparison. No synthetic or duplicated observations.</a:t>
            </a: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SG" b="1" dirty="0">
                <a:latin typeface="Calibri" panose="020F0502020204030204" pitchFamily="34" charset="0"/>
                <a:ea typeface="Calibri" panose="020F0502020204030204" pitchFamily="34" charset="0"/>
                <a:cs typeface="Calibri" panose="020F0502020204030204" pitchFamily="34" charset="0"/>
              </a:rPr>
              <a:t>Random Oversampling: </a:t>
            </a:r>
            <a:r>
              <a:rPr lang="en-SG" sz="1600" dirty="0">
                <a:latin typeface="Calibri" panose="020F0502020204030204" pitchFamily="34" charset="0"/>
                <a:ea typeface="Calibri" panose="020F0502020204030204" pitchFamily="34" charset="0"/>
                <a:cs typeface="Calibri" panose="020F0502020204030204" pitchFamily="34" charset="0"/>
              </a:rPr>
              <a:t>Randomly duplicates minority-class observations. Increases the number of diabetes-positive samples. Does not create new feature values.</a:t>
            </a: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endParaRPr lang="en-SG" dirty="0">
              <a:latin typeface="Calibri" panose="020F0502020204030204" pitchFamily="34" charset="0"/>
              <a:ea typeface="Calibri" panose="020F0502020204030204" pitchFamily="34" charset="0"/>
              <a:cs typeface="Calibri" panose="020F0502020204030204" pitchFamily="34" charset="0"/>
            </a:endParaRPr>
          </a:p>
          <a:p>
            <a:endParaRPr lang="en-SG"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SG" b="1" dirty="0">
                <a:latin typeface="Calibri" panose="020F0502020204030204" pitchFamily="34" charset="0"/>
                <a:ea typeface="Calibri" panose="020F0502020204030204" pitchFamily="34" charset="0"/>
                <a:cs typeface="Calibri" panose="020F0502020204030204" pitchFamily="34" charset="0"/>
              </a:rPr>
              <a:t>Synthetic Minority Oversampling Technique(SMOTE):</a:t>
            </a:r>
            <a:r>
              <a:rPr lang="en-SG" sz="1600" dirty="0">
                <a:latin typeface="Calibri" panose="020F0502020204030204" pitchFamily="34" charset="0"/>
                <a:ea typeface="Calibri" panose="020F0502020204030204" pitchFamily="34" charset="0"/>
                <a:cs typeface="Calibri" panose="020F0502020204030204" pitchFamily="34" charset="0"/>
              </a:rPr>
              <a:t>Generates synthetic minority-class observations. Uses neighbouring minority samples to create new examples. Increases minority-class representation without simply duplicating existing rows.</a:t>
            </a:r>
          </a:p>
          <a:p>
            <a:pPr marL="285750" indent="-285750">
              <a:buFont typeface="Wingdings" panose="05000000000000000000" pitchFamily="2" charset="2"/>
              <a:buChar char="Ø"/>
            </a:pPr>
            <a:endParaRPr lang="en-SG" dirty="0"/>
          </a:p>
          <a:p>
            <a:pPr marL="285750" indent="-285750">
              <a:buFont typeface="Wingdings" panose="05000000000000000000" pitchFamily="2" charset="2"/>
              <a:buChar char="Ø"/>
            </a:pPr>
            <a:endParaRPr lang="en-SG" dirty="0"/>
          </a:p>
          <a:p>
            <a:endParaRPr lang="en-SG" sz="1700" b="1" dirty="0">
              <a:solidFill>
                <a:srgbClr val="C00000"/>
              </a:solidFill>
            </a:endParaRPr>
          </a:p>
          <a:p>
            <a:endParaRPr lang="en-SG" sz="1700" b="1" dirty="0">
              <a:solidFill>
                <a:srgbClr val="C00000"/>
              </a:solidFill>
            </a:endParaRPr>
          </a:p>
        </p:txBody>
      </p:sp>
      <p:pic>
        <p:nvPicPr>
          <p:cNvPr id="5" name="Picture 4">
            <a:extLst>
              <a:ext uri="{FF2B5EF4-FFF2-40B4-BE49-F238E27FC236}">
                <a16:creationId xmlns:a16="http://schemas.microsoft.com/office/drawing/2014/main" id="{89639734-1A91-B0F4-AB36-22BD9E5FC9DD}"/>
              </a:ext>
            </a:extLst>
          </p:cNvPr>
          <p:cNvPicPr>
            <a:picLocks noChangeAspect="1"/>
          </p:cNvPicPr>
          <p:nvPr/>
        </p:nvPicPr>
        <p:blipFill>
          <a:blip r:embed="rId3"/>
          <a:stretch>
            <a:fillRect/>
          </a:stretch>
        </p:blipFill>
        <p:spPr>
          <a:xfrm>
            <a:off x="118872" y="543536"/>
            <a:ext cx="11611779" cy="647733"/>
          </a:xfrm>
          <a:prstGeom prst="rect">
            <a:avLst/>
          </a:prstGeom>
        </p:spPr>
      </p:pic>
      <p:pic>
        <p:nvPicPr>
          <p:cNvPr id="18" name="Picture 17">
            <a:extLst>
              <a:ext uri="{FF2B5EF4-FFF2-40B4-BE49-F238E27FC236}">
                <a16:creationId xmlns:a16="http://schemas.microsoft.com/office/drawing/2014/main" id="{BEE95A54-9C4E-8D70-6FF7-DBF7C6104903}"/>
              </a:ext>
            </a:extLst>
          </p:cNvPr>
          <p:cNvPicPr>
            <a:picLocks noChangeAspect="1"/>
          </p:cNvPicPr>
          <p:nvPr/>
        </p:nvPicPr>
        <p:blipFill>
          <a:blip r:embed="rId4"/>
          <a:stretch>
            <a:fillRect/>
          </a:stretch>
        </p:blipFill>
        <p:spPr>
          <a:xfrm>
            <a:off x="263824" y="1969728"/>
            <a:ext cx="7127575" cy="891504"/>
          </a:xfrm>
          <a:prstGeom prst="rect">
            <a:avLst/>
          </a:prstGeom>
        </p:spPr>
      </p:pic>
      <p:pic>
        <p:nvPicPr>
          <p:cNvPr id="20" name="Picture 19">
            <a:extLst>
              <a:ext uri="{FF2B5EF4-FFF2-40B4-BE49-F238E27FC236}">
                <a16:creationId xmlns:a16="http://schemas.microsoft.com/office/drawing/2014/main" id="{C558AD0B-CD78-49B0-768D-86C70C4A2D48}"/>
              </a:ext>
            </a:extLst>
          </p:cNvPr>
          <p:cNvPicPr>
            <a:picLocks noChangeAspect="1"/>
          </p:cNvPicPr>
          <p:nvPr/>
        </p:nvPicPr>
        <p:blipFill>
          <a:blip r:embed="rId5"/>
          <a:stretch>
            <a:fillRect/>
          </a:stretch>
        </p:blipFill>
        <p:spPr>
          <a:xfrm>
            <a:off x="263823" y="3502912"/>
            <a:ext cx="7127575" cy="987713"/>
          </a:xfrm>
          <a:prstGeom prst="rect">
            <a:avLst/>
          </a:prstGeom>
        </p:spPr>
      </p:pic>
      <p:pic>
        <p:nvPicPr>
          <p:cNvPr id="22" name="Picture 21">
            <a:extLst>
              <a:ext uri="{FF2B5EF4-FFF2-40B4-BE49-F238E27FC236}">
                <a16:creationId xmlns:a16="http://schemas.microsoft.com/office/drawing/2014/main" id="{F104F873-E2F0-1B9B-A354-DD06087B9680}"/>
              </a:ext>
            </a:extLst>
          </p:cNvPr>
          <p:cNvPicPr>
            <a:picLocks noChangeAspect="1"/>
          </p:cNvPicPr>
          <p:nvPr/>
        </p:nvPicPr>
        <p:blipFill>
          <a:blip r:embed="rId6"/>
          <a:stretch>
            <a:fillRect/>
          </a:stretch>
        </p:blipFill>
        <p:spPr>
          <a:xfrm>
            <a:off x="419028" y="5617311"/>
            <a:ext cx="6972370" cy="950085"/>
          </a:xfrm>
          <a:prstGeom prst="rect">
            <a:avLst/>
          </a:prstGeom>
        </p:spPr>
      </p:pic>
    </p:spTree>
    <p:extLst>
      <p:ext uri="{BB962C8B-B14F-4D97-AF65-F5344CB8AC3E}">
        <p14:creationId xmlns:p14="http://schemas.microsoft.com/office/powerpoint/2010/main" val="558179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DEE5618B-6479-58B2-0270-EF9855BE1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11CBB-0146-B5AE-25C5-B693BF400FF7}"/>
              </a:ext>
            </a:extLst>
          </p:cNvPr>
          <p:cNvSpPr>
            <a:spLocks noGrp="1"/>
          </p:cNvSpPr>
          <p:nvPr>
            <p:ph type="title"/>
          </p:nvPr>
        </p:nvSpPr>
        <p:spPr>
          <a:xfrm>
            <a:off x="311276" y="121919"/>
            <a:ext cx="11200003" cy="487681"/>
          </a:xfrm>
        </p:spPr>
        <p:txBody>
          <a:bodyPr>
            <a:normAutofit/>
          </a:bodyPr>
          <a:lstStyle/>
          <a:p>
            <a:pPr algn="ctr"/>
            <a:r>
              <a:rPr lang="en-SG" sz="2200" b="1" dirty="0">
                <a:solidFill>
                  <a:srgbClr val="002060"/>
                </a:solidFill>
              </a:rPr>
              <a:t>MODEL SELECTION – JUSTIFICATION FOR FOUR CLASSIFICATION MODELS</a:t>
            </a:r>
          </a:p>
        </p:txBody>
      </p:sp>
      <p:sp>
        <p:nvSpPr>
          <p:cNvPr id="3" name="Content Placeholder 2">
            <a:extLst>
              <a:ext uri="{FF2B5EF4-FFF2-40B4-BE49-F238E27FC236}">
                <a16:creationId xmlns:a16="http://schemas.microsoft.com/office/drawing/2014/main" id="{54D875EC-3178-A02B-D11F-0735EBCC776F}"/>
              </a:ext>
            </a:extLst>
          </p:cNvPr>
          <p:cNvSpPr>
            <a:spLocks noGrp="1"/>
          </p:cNvSpPr>
          <p:nvPr>
            <p:ph sz="quarter" idx="11"/>
          </p:nvPr>
        </p:nvSpPr>
        <p:spPr>
          <a:xfrm>
            <a:off x="329057" y="609599"/>
            <a:ext cx="11533886" cy="6126481"/>
          </a:xfrm>
          <a:solidFill>
            <a:schemeClr val="accent2">
              <a:lumMod val="40000"/>
              <a:lumOff val="60000"/>
            </a:schemeClr>
          </a:solidFill>
          <a:ln w="19050">
            <a:solidFill>
              <a:srgbClr val="7030A0"/>
            </a:solidFill>
          </a:ln>
        </p:spPr>
        <p:txBody>
          <a:bodyPr>
            <a:normAutofit/>
          </a:bodyPr>
          <a:lstStyle/>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sz="1800" b="1" dirty="0">
              <a:solidFill>
                <a:srgbClr val="002060"/>
              </a:solidFill>
              <a:latin typeface="Calibri" panose="020F0502020204030204" pitchFamily="34" charset="0"/>
              <a:ea typeface="Calibri" panose="020F0502020204030204" pitchFamily="34" charset="0"/>
              <a:cs typeface="Calibri" panose="020F0502020204030204" pitchFamily="34" charset="0"/>
            </a:endParaRPr>
          </a:p>
          <a:p>
            <a:endParaRPr lang="en-SG" dirty="0"/>
          </a:p>
        </p:txBody>
      </p:sp>
      <p:sp>
        <p:nvSpPr>
          <p:cNvPr id="5" name="Rectangle: Rounded Corners 4">
            <a:extLst>
              <a:ext uri="{FF2B5EF4-FFF2-40B4-BE49-F238E27FC236}">
                <a16:creationId xmlns:a16="http://schemas.microsoft.com/office/drawing/2014/main" id="{CBD91916-88F6-A708-466D-844F86927E5B}"/>
              </a:ext>
            </a:extLst>
          </p:cNvPr>
          <p:cNvSpPr/>
          <p:nvPr/>
        </p:nvSpPr>
        <p:spPr>
          <a:xfrm>
            <a:off x="425334" y="770389"/>
            <a:ext cx="2691281" cy="26427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b="1" dirty="0">
              <a:solidFill>
                <a:srgbClr val="7030A0"/>
              </a:solidFill>
            </a:endParaRPr>
          </a:p>
          <a:p>
            <a:endParaRPr lang="en-SG" b="1" dirty="0">
              <a:solidFill>
                <a:srgbClr val="7030A0"/>
              </a:solidFill>
            </a:endParaRPr>
          </a:p>
          <a:p>
            <a:r>
              <a:rPr lang="en-SG" b="1" dirty="0">
                <a:solidFill>
                  <a:srgbClr val="7030A0"/>
                </a:solidFill>
                <a:latin typeface="Calibri" panose="020F0502020204030204" pitchFamily="34" charset="0"/>
                <a:ea typeface="Calibri" panose="020F0502020204030204" pitchFamily="34" charset="0"/>
                <a:cs typeface="Calibri" panose="020F0502020204030204" pitchFamily="34" charset="0"/>
              </a:rPr>
              <a:t>Logistic Regression:</a:t>
            </a:r>
          </a:p>
          <a:p>
            <a:r>
              <a:rPr lang="en-SG" b="1" dirty="0">
                <a:solidFill>
                  <a:srgbClr val="0070C0"/>
                </a:solidFill>
                <a:latin typeface="Calibri" panose="020F0502020204030204" pitchFamily="34" charset="0"/>
                <a:ea typeface="Calibri" panose="020F0502020204030204" pitchFamily="34" charset="0"/>
                <a:cs typeface="Calibri" panose="020F0502020204030204" pitchFamily="34" charset="0"/>
              </a:rPr>
              <a:t>Baseline Benchmark</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Establishes a simple statistical benchmark before adding complexity.</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Provides direct feature interpretability &amp; rapid inference speed.</a:t>
            </a:r>
          </a:p>
          <a:p>
            <a:pPr marL="285750" indent="-285750">
              <a:buFont typeface="Wingdings" panose="05000000000000000000" pitchFamily="2" charset="2"/>
              <a:buChar char="§"/>
            </a:pPr>
            <a:endParaRPr lang="en-SG" dirty="0">
              <a:solidFill>
                <a:schemeClr val="tx1"/>
              </a:solidFill>
            </a:endParaRPr>
          </a:p>
          <a:p>
            <a:endParaRPr lang="en-SG" dirty="0"/>
          </a:p>
        </p:txBody>
      </p:sp>
      <p:sp>
        <p:nvSpPr>
          <p:cNvPr id="7" name="Rectangle: Rounded Corners 6">
            <a:extLst>
              <a:ext uri="{FF2B5EF4-FFF2-40B4-BE49-F238E27FC236}">
                <a16:creationId xmlns:a16="http://schemas.microsoft.com/office/drawing/2014/main" id="{512F44DB-BEAF-5340-8765-70615AB4CD34}"/>
              </a:ext>
            </a:extLst>
          </p:cNvPr>
          <p:cNvSpPr/>
          <p:nvPr/>
        </p:nvSpPr>
        <p:spPr>
          <a:xfrm>
            <a:off x="3338765" y="745247"/>
            <a:ext cx="2572512" cy="26427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b="1" dirty="0">
              <a:solidFill>
                <a:srgbClr val="7030A0"/>
              </a:solidFill>
            </a:endParaRPr>
          </a:p>
          <a:p>
            <a:endParaRPr lang="en-SG" b="1" dirty="0">
              <a:solidFill>
                <a:srgbClr val="7030A0"/>
              </a:solidFill>
            </a:endParaRPr>
          </a:p>
          <a:p>
            <a:r>
              <a:rPr lang="en-SG" b="1" dirty="0">
                <a:solidFill>
                  <a:srgbClr val="7030A0"/>
                </a:solidFill>
                <a:latin typeface="Calibri" panose="020F0502020204030204" pitchFamily="34" charset="0"/>
                <a:ea typeface="Calibri" panose="020F0502020204030204" pitchFamily="34" charset="0"/>
                <a:cs typeface="Calibri" panose="020F0502020204030204" pitchFamily="34" charset="0"/>
              </a:rPr>
              <a:t>Decision Tree:</a:t>
            </a:r>
          </a:p>
          <a:p>
            <a:r>
              <a:rPr lang="en-SG" b="1" dirty="0">
                <a:solidFill>
                  <a:srgbClr val="0070C0"/>
                </a:solidFill>
                <a:latin typeface="Calibri" panose="020F0502020204030204" pitchFamily="34" charset="0"/>
                <a:ea typeface="Calibri" panose="020F0502020204030204" pitchFamily="34" charset="0"/>
                <a:cs typeface="Calibri" panose="020F0502020204030204" pitchFamily="34" charset="0"/>
              </a:rPr>
              <a:t>Rule-Based Logic</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Captures non-linear relationships without complex scaling.</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Offers intuitive, visual IF-THEN rules for non-technical stakeholders.</a:t>
            </a:r>
          </a:p>
          <a:p>
            <a:pPr marL="285750" indent="-285750">
              <a:buFont typeface="Wingdings" panose="05000000000000000000" pitchFamily="2" charset="2"/>
              <a:buChar char="§"/>
            </a:pPr>
            <a:endParaRPr lang="en-SG" dirty="0">
              <a:solidFill>
                <a:schemeClr val="tx1"/>
              </a:solidFill>
            </a:endParaRPr>
          </a:p>
          <a:p>
            <a:endParaRPr lang="en-SG" dirty="0"/>
          </a:p>
        </p:txBody>
      </p:sp>
      <p:sp>
        <p:nvSpPr>
          <p:cNvPr id="10" name="Rectangle: Rounded Corners 9">
            <a:extLst>
              <a:ext uri="{FF2B5EF4-FFF2-40B4-BE49-F238E27FC236}">
                <a16:creationId xmlns:a16="http://schemas.microsoft.com/office/drawing/2014/main" id="{E4240B05-315C-BD92-87CC-FB1E751DA072}"/>
              </a:ext>
            </a:extLst>
          </p:cNvPr>
          <p:cNvSpPr/>
          <p:nvPr/>
        </p:nvSpPr>
        <p:spPr>
          <a:xfrm>
            <a:off x="6133427" y="770390"/>
            <a:ext cx="2789885" cy="264271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b="1" dirty="0">
              <a:solidFill>
                <a:srgbClr val="7030A0"/>
              </a:solidFill>
            </a:endParaRPr>
          </a:p>
          <a:p>
            <a:endParaRPr lang="en-SG" b="1" dirty="0">
              <a:solidFill>
                <a:srgbClr val="7030A0"/>
              </a:solidFill>
            </a:endParaRPr>
          </a:p>
          <a:p>
            <a:r>
              <a:rPr lang="en-SG" b="1" dirty="0">
                <a:solidFill>
                  <a:srgbClr val="7030A0"/>
                </a:solidFill>
                <a:latin typeface="Calibri" panose="020F0502020204030204" pitchFamily="34" charset="0"/>
                <a:ea typeface="Calibri" panose="020F0502020204030204" pitchFamily="34" charset="0"/>
                <a:cs typeface="Calibri" panose="020F0502020204030204" pitchFamily="34" charset="0"/>
              </a:rPr>
              <a:t>Random Forest:</a:t>
            </a:r>
          </a:p>
          <a:p>
            <a:r>
              <a:rPr lang="en-SG" b="1" dirty="0">
                <a:solidFill>
                  <a:srgbClr val="0070C0"/>
                </a:solidFill>
                <a:latin typeface="Calibri" panose="020F0502020204030204" pitchFamily="34" charset="0"/>
                <a:ea typeface="Calibri" panose="020F0502020204030204" pitchFamily="34" charset="0"/>
                <a:cs typeface="Calibri" panose="020F0502020204030204" pitchFamily="34" charset="0"/>
              </a:rPr>
              <a:t>Bagging Ensemble</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Aggregates multiple decision trees to overcome single-tree overfitting.</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Provides robust global feature importance and lower prediction variance.</a:t>
            </a:r>
          </a:p>
          <a:p>
            <a:pPr marL="285750" indent="-285750">
              <a:buFont typeface="Wingdings" panose="05000000000000000000" pitchFamily="2" charset="2"/>
              <a:buChar char="§"/>
            </a:pPr>
            <a:endParaRPr lang="en-SG" dirty="0">
              <a:solidFill>
                <a:schemeClr val="tx1"/>
              </a:solidFill>
            </a:endParaRPr>
          </a:p>
          <a:p>
            <a:endParaRPr lang="en-SG" dirty="0"/>
          </a:p>
        </p:txBody>
      </p:sp>
      <p:sp>
        <p:nvSpPr>
          <p:cNvPr id="12" name="Rectangle: Rounded Corners 11">
            <a:extLst>
              <a:ext uri="{FF2B5EF4-FFF2-40B4-BE49-F238E27FC236}">
                <a16:creationId xmlns:a16="http://schemas.microsoft.com/office/drawing/2014/main" id="{49286328-C53E-867A-288C-335415516E16}"/>
              </a:ext>
            </a:extLst>
          </p:cNvPr>
          <p:cNvSpPr/>
          <p:nvPr/>
        </p:nvSpPr>
        <p:spPr>
          <a:xfrm>
            <a:off x="9047486" y="770390"/>
            <a:ext cx="2691282" cy="26752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SG" b="1" dirty="0">
              <a:solidFill>
                <a:srgbClr val="7030A0"/>
              </a:solidFill>
            </a:endParaRPr>
          </a:p>
          <a:p>
            <a:endParaRPr lang="en-SG" b="1" dirty="0">
              <a:solidFill>
                <a:srgbClr val="7030A0"/>
              </a:solidFill>
            </a:endParaRPr>
          </a:p>
          <a:p>
            <a:r>
              <a:rPr lang="en-SG" b="1" dirty="0" err="1">
                <a:solidFill>
                  <a:srgbClr val="7030A0"/>
                </a:solidFill>
                <a:latin typeface="Calibri" panose="020F0502020204030204" pitchFamily="34" charset="0"/>
                <a:ea typeface="Calibri" panose="020F0502020204030204" pitchFamily="34" charset="0"/>
                <a:cs typeface="Calibri" panose="020F0502020204030204" pitchFamily="34" charset="0"/>
              </a:rPr>
              <a:t>XGBoost</a:t>
            </a:r>
            <a:r>
              <a:rPr lang="en-SG" b="1" dirty="0">
                <a:solidFill>
                  <a:srgbClr val="7030A0"/>
                </a:solidFill>
                <a:latin typeface="Calibri" panose="020F0502020204030204" pitchFamily="34" charset="0"/>
                <a:ea typeface="Calibri" panose="020F0502020204030204" pitchFamily="34" charset="0"/>
                <a:cs typeface="Calibri" panose="020F0502020204030204" pitchFamily="34" charset="0"/>
              </a:rPr>
              <a:t>:</a:t>
            </a:r>
          </a:p>
          <a:p>
            <a:r>
              <a:rPr lang="en-SG" b="1" dirty="0">
                <a:solidFill>
                  <a:srgbClr val="0070C0"/>
                </a:solidFill>
                <a:latin typeface="Calibri" panose="020F0502020204030204" pitchFamily="34" charset="0"/>
                <a:ea typeface="Calibri" panose="020F0502020204030204" pitchFamily="34" charset="0"/>
                <a:cs typeface="Calibri" panose="020F0502020204030204" pitchFamily="34" charset="0"/>
              </a:rPr>
              <a:t>Boosting Ensemble</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Sequentially minimizes residual errors for peak predictive accuracy.</a:t>
            </a:r>
          </a:p>
          <a:p>
            <a:pPr marL="285750" indent="-285750">
              <a:buFont typeface="Wingdings" panose="05000000000000000000" pitchFamily="2" charset="2"/>
              <a:buChar char="§"/>
            </a:pPr>
            <a:r>
              <a:rPr lang="en-SG" sz="1500" dirty="0">
                <a:solidFill>
                  <a:schemeClr val="tx1"/>
                </a:solidFill>
                <a:latin typeface="Calibri" panose="020F0502020204030204" pitchFamily="34" charset="0"/>
                <a:ea typeface="Calibri" panose="020F0502020204030204" pitchFamily="34" charset="0"/>
                <a:cs typeface="Calibri" panose="020F0502020204030204" pitchFamily="34" charset="0"/>
              </a:rPr>
              <a:t>Industry standard for high performance on complex tabular datasets.</a:t>
            </a:r>
          </a:p>
          <a:p>
            <a:pPr marL="285750" indent="-285750">
              <a:buFont typeface="Wingdings" panose="05000000000000000000" pitchFamily="2" charset="2"/>
              <a:buChar char="§"/>
            </a:pPr>
            <a:endParaRPr lang="en-SG" dirty="0">
              <a:solidFill>
                <a:schemeClr val="tx1"/>
              </a:solidFill>
            </a:endParaRPr>
          </a:p>
          <a:p>
            <a:endParaRPr lang="en-SG" dirty="0"/>
          </a:p>
        </p:txBody>
      </p:sp>
      <p:pic>
        <p:nvPicPr>
          <p:cNvPr id="14" name="Picture 13">
            <a:extLst>
              <a:ext uri="{FF2B5EF4-FFF2-40B4-BE49-F238E27FC236}">
                <a16:creationId xmlns:a16="http://schemas.microsoft.com/office/drawing/2014/main" id="{510AF1C4-6F66-F1EE-5AA6-04BF12257DFC}"/>
              </a:ext>
            </a:extLst>
          </p:cNvPr>
          <p:cNvPicPr>
            <a:picLocks noChangeAspect="1"/>
          </p:cNvPicPr>
          <p:nvPr/>
        </p:nvPicPr>
        <p:blipFill>
          <a:blip r:embed="rId2"/>
          <a:stretch>
            <a:fillRect/>
          </a:stretch>
        </p:blipFill>
        <p:spPr>
          <a:xfrm>
            <a:off x="590745" y="3672839"/>
            <a:ext cx="11067855" cy="1316505"/>
          </a:xfrm>
          <a:prstGeom prst="rect">
            <a:avLst/>
          </a:prstGeom>
        </p:spPr>
      </p:pic>
      <p:sp>
        <p:nvSpPr>
          <p:cNvPr id="16" name="TextBox 15">
            <a:extLst>
              <a:ext uri="{FF2B5EF4-FFF2-40B4-BE49-F238E27FC236}">
                <a16:creationId xmlns:a16="http://schemas.microsoft.com/office/drawing/2014/main" id="{4642DD5A-39B9-18E8-4D84-F9D206DEB6D1}"/>
              </a:ext>
            </a:extLst>
          </p:cNvPr>
          <p:cNvSpPr txBox="1"/>
          <p:nvPr/>
        </p:nvSpPr>
        <p:spPr>
          <a:xfrm>
            <a:off x="590746" y="5274217"/>
            <a:ext cx="11080140" cy="584775"/>
          </a:xfrm>
          <a:prstGeom prst="rect">
            <a:avLst/>
          </a:prstGeom>
          <a:noFill/>
          <a:ln w="12700">
            <a:solidFill>
              <a:srgbClr val="002060"/>
            </a:solidFill>
          </a:ln>
        </p:spPr>
        <p:txBody>
          <a:bodyPr wrap="square" rtlCol="0">
            <a:spAutoFit/>
          </a:bodyPr>
          <a:lstStyle/>
          <a:p>
            <a:r>
              <a:rPr lang="en-SG" sz="1600" b="1" dirty="0">
                <a:solidFill>
                  <a:srgbClr val="7030A0"/>
                </a:solidFill>
                <a:latin typeface="Calibri" panose="020F0502020204030204" pitchFamily="34" charset="0"/>
                <a:ea typeface="Calibri" panose="020F0502020204030204" pitchFamily="34" charset="0"/>
                <a:cs typeface="Calibri" panose="020F0502020204030204" pitchFamily="34" charset="0"/>
              </a:rPr>
              <a:t>The four models were selected to provide a balanced comparison between interpretability, non-linear modelling, ensemble learning, and advanced predictive performance.</a:t>
            </a:r>
          </a:p>
        </p:txBody>
      </p:sp>
    </p:spTree>
    <p:extLst>
      <p:ext uri="{BB962C8B-B14F-4D97-AF65-F5344CB8AC3E}">
        <p14:creationId xmlns:p14="http://schemas.microsoft.com/office/powerpoint/2010/main" val="121512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023BC346-B7E2-915B-5802-3C2A842F0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2D095-0123-E784-E951-3A79B57F2B06}"/>
              </a:ext>
            </a:extLst>
          </p:cNvPr>
          <p:cNvSpPr>
            <a:spLocks noGrp="1"/>
          </p:cNvSpPr>
          <p:nvPr>
            <p:ph type="title"/>
          </p:nvPr>
        </p:nvSpPr>
        <p:spPr>
          <a:xfrm>
            <a:off x="403437" y="170653"/>
            <a:ext cx="11611779" cy="914400"/>
          </a:xfrm>
        </p:spPr>
        <p:txBody>
          <a:bodyPr>
            <a:noAutofit/>
          </a:bodyPr>
          <a:lstStyle/>
          <a:p>
            <a:r>
              <a:rPr lang="en-SG" sz="2000" b="1" dirty="0">
                <a:solidFill>
                  <a:srgbClr val="002060"/>
                </a:solidFill>
              </a:rPr>
              <a:t>                                          </a:t>
            </a:r>
            <a:r>
              <a:rPr lang="en-SG" sz="2200" b="1" dirty="0">
                <a:solidFill>
                  <a:srgbClr val="002060"/>
                </a:solidFill>
              </a:rPr>
              <a:t>MODEL PERFORMANCE COMPARISON</a:t>
            </a:r>
            <a:br>
              <a:rPr lang="en-SG" sz="2000" b="1" dirty="0">
                <a:solidFill>
                  <a:srgbClr val="002060"/>
                </a:solidFill>
              </a:rPr>
            </a:br>
            <a:r>
              <a:rPr lang="en-SG" sz="1500" b="1" dirty="0"/>
              <a:t>The four classification models were evaluated using the selected Random Oversampling strategy and the same performance metrics.</a:t>
            </a:r>
          </a:p>
        </p:txBody>
      </p:sp>
      <p:pic>
        <p:nvPicPr>
          <p:cNvPr id="7" name="Content Placeholder 6">
            <a:extLst>
              <a:ext uri="{FF2B5EF4-FFF2-40B4-BE49-F238E27FC236}">
                <a16:creationId xmlns:a16="http://schemas.microsoft.com/office/drawing/2014/main" id="{66F59871-319B-F5DC-2843-7311D35E1D71}"/>
              </a:ext>
            </a:extLst>
          </p:cNvPr>
          <p:cNvPicPr>
            <a:picLocks noGrp="1" noChangeAspect="1"/>
          </p:cNvPicPr>
          <p:nvPr>
            <p:ph sz="quarter" idx="11"/>
          </p:nvPr>
        </p:nvPicPr>
        <p:blipFill>
          <a:blip r:embed="rId3"/>
          <a:stretch>
            <a:fillRect/>
          </a:stretch>
        </p:blipFill>
        <p:spPr>
          <a:xfrm>
            <a:off x="118872" y="1895445"/>
            <a:ext cx="6292814" cy="2578584"/>
          </a:xfrm>
          <a:prstGeom prst="rect">
            <a:avLst/>
          </a:prstGeom>
          <a:ln w="12700">
            <a:solidFill>
              <a:srgbClr val="7030A0"/>
            </a:solidFill>
          </a:ln>
        </p:spPr>
      </p:pic>
      <p:sp>
        <p:nvSpPr>
          <p:cNvPr id="4" name="Content Placeholder 3">
            <a:extLst>
              <a:ext uri="{FF2B5EF4-FFF2-40B4-BE49-F238E27FC236}">
                <a16:creationId xmlns:a16="http://schemas.microsoft.com/office/drawing/2014/main" id="{8CF98321-4BE5-D178-7A8F-191E60FAA1D8}"/>
              </a:ext>
            </a:extLst>
          </p:cNvPr>
          <p:cNvSpPr>
            <a:spLocks noGrp="1"/>
          </p:cNvSpPr>
          <p:nvPr>
            <p:ph sz="quarter" idx="12"/>
          </p:nvPr>
        </p:nvSpPr>
        <p:spPr>
          <a:xfrm>
            <a:off x="6566493" y="858600"/>
            <a:ext cx="5448724" cy="5923200"/>
          </a:xfrm>
          <a:ln w="12700">
            <a:solidFill>
              <a:srgbClr val="7030A0"/>
            </a:solidFill>
          </a:ln>
        </p:spPr>
        <p:txBody>
          <a:bodyPr>
            <a:normAutofit fontScale="25000" lnSpcReduction="20000"/>
          </a:bodyPr>
          <a:lstStyle/>
          <a:p>
            <a:r>
              <a:rPr lang="en-SG" sz="5200" b="1" dirty="0">
                <a:latin typeface="Calibri" panose="020F0502020204030204" pitchFamily="34" charset="0"/>
                <a:ea typeface="Calibri" panose="020F0502020204030204" pitchFamily="34" charset="0"/>
                <a:cs typeface="Calibri" panose="020F0502020204030204" pitchFamily="34" charset="0"/>
              </a:rPr>
              <a:t>Key Findings: </a:t>
            </a:r>
            <a:r>
              <a:rPr lang="en-SG" sz="5200" b="1" dirty="0">
                <a:solidFill>
                  <a:srgbClr val="800080"/>
                </a:solidFill>
                <a:latin typeface="Calibri" panose="020F0502020204030204" pitchFamily="34" charset="0"/>
                <a:ea typeface="Calibri" panose="020F0502020204030204" pitchFamily="34" charset="0"/>
                <a:cs typeface="Calibri" panose="020F0502020204030204" pitchFamily="34" charset="0"/>
              </a:rPr>
              <a:t>Logistic Regression</a:t>
            </a:r>
            <a:r>
              <a:rPr lang="en-SG" sz="5200" b="1" dirty="0">
                <a:latin typeface="Calibri" panose="020F0502020204030204" pitchFamily="34" charset="0"/>
                <a:ea typeface="Calibri" panose="020F0502020204030204" pitchFamily="34" charset="0"/>
                <a:cs typeface="Calibri" panose="020F0502020204030204" pitchFamily="34" charset="0"/>
              </a:rPr>
              <a:t>:</a:t>
            </a:r>
          </a:p>
          <a:p>
            <a:pPr marL="342900" indent="-34290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Precision</a:t>
            </a:r>
            <a:r>
              <a:rPr lang="en-SG" sz="5200" dirty="0">
                <a:latin typeface="Calibri" panose="020F0502020204030204" pitchFamily="34" charset="0"/>
                <a:ea typeface="Calibri" panose="020F0502020204030204" pitchFamily="34" charset="0"/>
                <a:cs typeface="Calibri" panose="020F0502020204030204" pitchFamily="34" charset="0"/>
              </a:rPr>
              <a:t>: 86.93%</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However, Recall is only 12.78%</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This means it identifies fewer actual diabetes cases despite its high precision.</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 Provides strong discrimination with 80.54% ROC-AUC, but week </a:t>
            </a:r>
            <a:r>
              <a:rPr lang="en-SG" sz="5200" dirty="0" err="1">
                <a:latin typeface="Calibri" panose="020F0502020204030204" pitchFamily="34" charset="0"/>
                <a:ea typeface="Calibri" panose="020F0502020204030204" pitchFamily="34" charset="0"/>
                <a:cs typeface="Calibri" panose="020F0502020204030204" pitchFamily="34" charset="0"/>
              </a:rPr>
              <a:t>minortity</a:t>
            </a:r>
            <a:r>
              <a:rPr lang="en-SG" sz="5200" dirty="0">
                <a:latin typeface="Calibri" panose="020F0502020204030204" pitchFamily="34" charset="0"/>
                <a:ea typeface="Calibri" panose="020F0502020204030204" pitchFamily="34" charset="0"/>
                <a:cs typeface="Calibri" panose="020F0502020204030204" pitchFamily="34" charset="0"/>
              </a:rPr>
              <a:t>-class detection.</a:t>
            </a:r>
          </a:p>
          <a:p>
            <a:r>
              <a:rPr lang="en-SG" sz="5200" b="1" dirty="0">
                <a:solidFill>
                  <a:srgbClr val="800080"/>
                </a:solidFill>
                <a:latin typeface="Calibri" panose="020F0502020204030204" pitchFamily="34" charset="0"/>
                <a:ea typeface="Calibri" panose="020F0502020204030204" pitchFamily="34" charset="0"/>
                <a:cs typeface="Calibri" panose="020F0502020204030204" pitchFamily="34" charset="0"/>
              </a:rPr>
              <a:t>Decision Tree:</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Recall: 28.51%</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ROC-AUC: 57.46%</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F1: 27.90%</a:t>
            </a:r>
          </a:p>
          <a:p>
            <a:pPr marL="342900" indent="-34290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Weakest overall Performance among the four models.</a:t>
            </a:r>
          </a:p>
          <a:p>
            <a:r>
              <a:rPr lang="en-SG" sz="5200" b="1" dirty="0">
                <a:solidFill>
                  <a:srgbClr val="800080"/>
                </a:solidFill>
                <a:latin typeface="Calibri" panose="020F0502020204030204" pitchFamily="34" charset="0"/>
                <a:ea typeface="Calibri" panose="020F0502020204030204" pitchFamily="34" charset="0"/>
                <a:cs typeface="Calibri" panose="020F0502020204030204" pitchFamily="34" charset="0"/>
              </a:rPr>
              <a:t>Random Forest:</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Accuracy: </a:t>
            </a:r>
            <a:r>
              <a:rPr lang="en-SG" sz="5200" dirty="0">
                <a:latin typeface="Calibri" panose="020F0502020204030204" pitchFamily="34" charset="0"/>
                <a:ea typeface="Calibri" panose="020F0502020204030204" pitchFamily="34" charset="0"/>
                <a:cs typeface="Calibri" panose="020F0502020204030204" pitchFamily="34" charset="0"/>
              </a:rPr>
              <a:t>82.83%</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Precision after Logistic Regression:</a:t>
            </a:r>
            <a:r>
              <a:rPr lang="en-SG" sz="5200" dirty="0">
                <a:latin typeface="Calibri" panose="020F0502020204030204" pitchFamily="34" charset="0"/>
                <a:ea typeface="Calibri" panose="020F0502020204030204" pitchFamily="34" charset="0"/>
                <a:cs typeface="Calibri" panose="020F0502020204030204" pitchFamily="34" charset="0"/>
              </a:rPr>
              <a:t>41.71%</a:t>
            </a:r>
          </a:p>
          <a:p>
            <a:pPr marL="285750" indent="-28575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How ever, Recall is only  30.87%</a:t>
            </a:r>
          </a:p>
          <a:p>
            <a:pPr marL="285750" indent="-28575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High accuracy but weaker diabetes-case detection</a:t>
            </a:r>
          </a:p>
          <a:p>
            <a:r>
              <a:rPr lang="en-SG" sz="5200" b="1" dirty="0" err="1">
                <a:solidFill>
                  <a:srgbClr val="800080"/>
                </a:solidFill>
                <a:latin typeface="Calibri" panose="020F0502020204030204" pitchFamily="34" charset="0"/>
                <a:ea typeface="Calibri" panose="020F0502020204030204" pitchFamily="34" charset="0"/>
                <a:cs typeface="Calibri" panose="020F0502020204030204" pitchFamily="34" charset="0"/>
              </a:rPr>
              <a:t>XGBoost</a:t>
            </a:r>
            <a:r>
              <a:rPr lang="en-SG" sz="5200" b="1" dirty="0">
                <a:solidFill>
                  <a:srgbClr val="800080"/>
                </a:solidFill>
                <a:latin typeface="Calibri" panose="020F0502020204030204" pitchFamily="34" charset="0"/>
                <a:ea typeface="Calibri" panose="020F0502020204030204" pitchFamily="34" charset="0"/>
                <a:cs typeface="Calibri" panose="020F0502020204030204" pitchFamily="34" charset="0"/>
              </a:rPr>
              <a:t>:</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Recall after Random Forest</a:t>
            </a:r>
            <a:r>
              <a:rPr lang="en-SG" sz="5200" dirty="0">
                <a:latin typeface="Calibri" panose="020F0502020204030204" pitchFamily="34" charset="0"/>
                <a:ea typeface="Calibri" panose="020F0502020204030204" pitchFamily="34" charset="0"/>
                <a:cs typeface="Calibri" panose="020F0502020204030204" pitchFamily="34" charset="0"/>
              </a:rPr>
              <a:t>: 79.17% </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a:t>
            </a:r>
            <a:r>
              <a:rPr lang="en-SG" sz="5200" dirty="0">
                <a:latin typeface="Calibri" panose="020F0502020204030204" pitchFamily="34" charset="0"/>
                <a:ea typeface="Calibri" panose="020F0502020204030204" pitchFamily="34" charset="0"/>
                <a:cs typeface="Calibri" panose="020F0502020204030204" pitchFamily="34" charset="0"/>
              </a:rPr>
              <a:t> </a:t>
            </a:r>
            <a:r>
              <a:rPr lang="en-SG" sz="5200" b="1" dirty="0">
                <a:latin typeface="Calibri" panose="020F0502020204030204" pitchFamily="34" charset="0"/>
                <a:ea typeface="Calibri" panose="020F0502020204030204" pitchFamily="34" charset="0"/>
                <a:cs typeface="Calibri" panose="020F0502020204030204" pitchFamily="34" charset="0"/>
              </a:rPr>
              <a:t>F1</a:t>
            </a:r>
            <a:r>
              <a:rPr lang="en-SG" sz="5200" dirty="0">
                <a:latin typeface="Calibri" panose="020F0502020204030204" pitchFamily="34" charset="0"/>
                <a:ea typeface="Calibri" panose="020F0502020204030204" pitchFamily="34" charset="0"/>
                <a:cs typeface="Calibri" panose="020F0502020204030204" pitchFamily="34" charset="0"/>
              </a:rPr>
              <a:t>:45.11% </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ROC-AUC:</a:t>
            </a:r>
            <a:r>
              <a:rPr lang="en-SG" sz="5200" dirty="0">
                <a:latin typeface="Calibri" panose="020F0502020204030204" pitchFamily="34" charset="0"/>
                <a:ea typeface="Calibri" panose="020F0502020204030204" pitchFamily="34" charset="0"/>
                <a:cs typeface="Calibri" panose="020F0502020204030204" pitchFamily="34" charset="0"/>
              </a:rPr>
              <a:t>81.89%</a:t>
            </a:r>
          </a:p>
          <a:p>
            <a:pPr marL="285750" indent="-285750">
              <a:buFont typeface="Arial" panose="020B0604020202020204" pitchFamily="34" charset="0"/>
              <a:buChar char="•"/>
            </a:pPr>
            <a:r>
              <a:rPr lang="en-SG" sz="5200" b="1" dirty="0">
                <a:latin typeface="Calibri" panose="020F0502020204030204" pitchFamily="34" charset="0"/>
                <a:ea typeface="Calibri" panose="020F0502020204030204" pitchFamily="34" charset="0"/>
                <a:cs typeface="Calibri" panose="020F0502020204030204" pitchFamily="34" charset="0"/>
              </a:rPr>
              <a:t>Highest MCC:</a:t>
            </a:r>
            <a:r>
              <a:rPr lang="en-SG" sz="5200" dirty="0">
                <a:latin typeface="Calibri" panose="020F0502020204030204" pitchFamily="34" charset="0"/>
                <a:ea typeface="Calibri" panose="020F0502020204030204" pitchFamily="34" charset="0"/>
                <a:cs typeface="Calibri" panose="020F0502020204030204" pitchFamily="34" charset="0"/>
              </a:rPr>
              <a:t>35.63%</a:t>
            </a:r>
          </a:p>
          <a:p>
            <a:pPr marL="285750" indent="-285750">
              <a:buFont typeface="Arial" panose="020B0604020202020204" pitchFamily="34" charset="0"/>
              <a:buChar char="•"/>
            </a:pPr>
            <a:r>
              <a:rPr lang="en-SG" sz="5200" dirty="0">
                <a:latin typeface="Calibri" panose="020F0502020204030204" pitchFamily="34" charset="0"/>
                <a:ea typeface="Calibri" panose="020F0502020204030204" pitchFamily="34" charset="0"/>
                <a:cs typeface="Calibri" panose="020F0502020204030204" pitchFamily="34" charset="0"/>
              </a:rPr>
              <a:t>Provides the strongest overall performance for identifying diabetes-positive cases. </a:t>
            </a:r>
          </a:p>
          <a:p>
            <a:endParaRPr lang="en-SG" sz="1500" dirty="0"/>
          </a:p>
          <a:p>
            <a:pPr marL="285750" indent="-285750">
              <a:buFont typeface="Arial" panose="020B0604020202020204" pitchFamily="34" charset="0"/>
              <a:buChar char="•"/>
            </a:pPr>
            <a:endParaRPr lang="en-SG" sz="1500" dirty="0"/>
          </a:p>
        </p:txBody>
      </p:sp>
      <p:pic>
        <p:nvPicPr>
          <p:cNvPr id="11" name="Picture 10">
            <a:extLst>
              <a:ext uri="{FF2B5EF4-FFF2-40B4-BE49-F238E27FC236}">
                <a16:creationId xmlns:a16="http://schemas.microsoft.com/office/drawing/2014/main" id="{A81E78F0-4CB9-C945-F74C-47EA4236390A}"/>
              </a:ext>
            </a:extLst>
          </p:cNvPr>
          <p:cNvPicPr>
            <a:picLocks noChangeAspect="1"/>
          </p:cNvPicPr>
          <p:nvPr/>
        </p:nvPicPr>
        <p:blipFill>
          <a:blip r:embed="rId4"/>
          <a:stretch>
            <a:fillRect/>
          </a:stretch>
        </p:blipFill>
        <p:spPr>
          <a:xfrm>
            <a:off x="118870" y="981045"/>
            <a:ext cx="6292815" cy="819547"/>
          </a:xfrm>
          <a:prstGeom prst="rect">
            <a:avLst/>
          </a:prstGeom>
          <a:ln w="12700">
            <a:solidFill>
              <a:srgbClr val="7030A0"/>
            </a:solidFill>
          </a:ln>
        </p:spPr>
      </p:pic>
      <p:sp>
        <p:nvSpPr>
          <p:cNvPr id="12" name="TextBox 11">
            <a:extLst>
              <a:ext uri="{FF2B5EF4-FFF2-40B4-BE49-F238E27FC236}">
                <a16:creationId xmlns:a16="http://schemas.microsoft.com/office/drawing/2014/main" id="{1BD2D1CB-BC34-9A99-9DF0-1DC1D03B1B2A}"/>
              </a:ext>
            </a:extLst>
          </p:cNvPr>
          <p:cNvSpPr txBox="1"/>
          <p:nvPr/>
        </p:nvSpPr>
        <p:spPr>
          <a:xfrm>
            <a:off x="118872" y="4581198"/>
            <a:ext cx="6292814" cy="2200602"/>
          </a:xfrm>
          <a:prstGeom prst="rect">
            <a:avLst/>
          </a:prstGeom>
          <a:noFill/>
          <a:ln>
            <a:solidFill>
              <a:srgbClr val="7030A0"/>
            </a:solidFill>
          </a:ln>
        </p:spPr>
        <p:txBody>
          <a:bodyPr wrap="square" rtlCol="0">
            <a:spAutoFit/>
          </a:bodyPr>
          <a:lstStyle/>
          <a:p>
            <a:r>
              <a:rPr lang="en-SG" sz="1700" b="1" dirty="0"/>
              <a:t>CHAMPION MODEL: </a:t>
            </a:r>
            <a:r>
              <a:rPr lang="en-SG" sz="1700" b="1" dirty="0">
                <a:solidFill>
                  <a:srgbClr val="C00000"/>
                </a:solidFill>
              </a:rPr>
              <a:t>XGBOOST</a:t>
            </a:r>
          </a:p>
          <a:p>
            <a:r>
              <a:rPr lang="en-SG" sz="1500" b="1" dirty="0" err="1">
                <a:solidFill>
                  <a:srgbClr val="7030A0"/>
                </a:solidFill>
                <a:latin typeface="Calibri" panose="020F0502020204030204" pitchFamily="34" charset="0"/>
                <a:ea typeface="Calibri" panose="020F0502020204030204" pitchFamily="34" charset="0"/>
                <a:cs typeface="Calibri" panose="020F0502020204030204" pitchFamily="34" charset="0"/>
              </a:rPr>
              <a:t>XGBoost</a:t>
            </a:r>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 achieved the highest Recall, F1-score, ROC-AUC and MCC, making it the most suitable model for the project's primary objective of identifying potential diabetes cases. Although Random Forest achieved the highest Accuracy (82.83%) and Logistic Regression achieved the highest Precision (86.93%), both had substantially lower Recall than </a:t>
            </a:r>
            <a:r>
              <a:rPr lang="en-SG" sz="1500" b="1" dirty="0" err="1">
                <a:solidFill>
                  <a:srgbClr val="7030A0"/>
                </a:solidFill>
                <a:latin typeface="Calibri" panose="020F0502020204030204" pitchFamily="34" charset="0"/>
                <a:ea typeface="Calibri" panose="020F0502020204030204" pitchFamily="34" charset="0"/>
                <a:cs typeface="Calibri" panose="020F0502020204030204" pitchFamily="34" charset="0"/>
              </a:rPr>
              <a:t>XGBoost</a:t>
            </a:r>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a:t>
            </a:r>
          </a:p>
          <a:p>
            <a:r>
              <a:rPr lang="en-SG" sz="1500" b="1" dirty="0">
                <a:latin typeface="Calibri" panose="020F0502020204030204" pitchFamily="34" charset="0"/>
                <a:ea typeface="Calibri" panose="020F0502020204030204" pitchFamily="34" charset="0"/>
                <a:cs typeface="Calibri" panose="020F0502020204030204" pitchFamily="34" charset="0"/>
              </a:rPr>
              <a:t>Recall is prioritised because the project aims to identify as many potential diabetes cases as possible. A low Recall means that many actual diabetes cases may be missed.</a:t>
            </a:r>
            <a:endParaRPr lang="en-SG" sz="1700" b="1" dirty="0">
              <a:solidFill>
                <a:srgbClr val="C00000"/>
              </a:solidFill>
            </a:endParaRPr>
          </a:p>
        </p:txBody>
      </p:sp>
    </p:spTree>
    <p:extLst>
      <p:ext uri="{BB962C8B-B14F-4D97-AF65-F5344CB8AC3E}">
        <p14:creationId xmlns:p14="http://schemas.microsoft.com/office/powerpoint/2010/main" val="689371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681D4943-1E47-28A5-4044-625934BE0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D6E36-2EAC-CD7F-E192-FAE8A94D4A78}"/>
              </a:ext>
            </a:extLst>
          </p:cNvPr>
          <p:cNvSpPr>
            <a:spLocks noGrp="1"/>
          </p:cNvSpPr>
          <p:nvPr>
            <p:ph type="title"/>
          </p:nvPr>
        </p:nvSpPr>
        <p:spPr>
          <a:xfrm>
            <a:off x="0" y="64008"/>
            <a:ext cx="12207240" cy="725355"/>
          </a:xfrm>
        </p:spPr>
        <p:txBody>
          <a:bodyPr>
            <a:noAutofit/>
          </a:bodyPr>
          <a:lstStyle/>
          <a:p>
            <a:r>
              <a:rPr lang="en-SG" sz="2200" b="1" dirty="0">
                <a:solidFill>
                  <a:srgbClr val="002060"/>
                </a:solidFill>
              </a:rPr>
              <a:t>		</a:t>
            </a: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r>
              <a:rPr lang="en-SG" sz="2000" b="1" dirty="0">
                <a:solidFill>
                  <a:srgbClr val="002060"/>
                </a:solidFill>
              </a:rPr>
              <a:t>                                                           </a:t>
            </a:r>
            <a:r>
              <a:rPr lang="en-SG" sz="2200" b="1" dirty="0">
                <a:solidFill>
                  <a:srgbClr val="002060"/>
                </a:solidFill>
              </a:rPr>
              <a:t>GLOBAL FEATURE IMPORTANCE</a:t>
            </a:r>
            <a:br>
              <a:rPr lang="en-SG" sz="2200" b="1" dirty="0">
                <a:solidFill>
                  <a:srgbClr val="002060"/>
                </a:solidFill>
              </a:rPr>
            </a:br>
            <a:r>
              <a:rPr lang="en-SG" sz="2200" b="1" dirty="0">
                <a:solidFill>
                  <a:srgbClr val="002060"/>
                </a:solidFill>
              </a:rPr>
              <a:t>                                         </a:t>
            </a:r>
            <a:r>
              <a:rPr lang="en-SG" sz="2000" b="1" dirty="0" err="1">
                <a:solidFill>
                  <a:srgbClr val="002060"/>
                </a:solidFill>
              </a:rPr>
              <a:t>XGBoost</a:t>
            </a:r>
            <a:r>
              <a:rPr lang="en-SG" sz="2000" b="1" dirty="0">
                <a:solidFill>
                  <a:srgbClr val="002060"/>
                </a:solidFill>
              </a:rPr>
              <a:t> Model Interpretation – Key Predictive Features</a:t>
            </a:r>
            <a:endParaRPr lang="en-SG" sz="1500" b="1" dirty="0"/>
          </a:p>
        </p:txBody>
      </p:sp>
      <p:pic>
        <p:nvPicPr>
          <p:cNvPr id="13" name="Content Placeholder 12">
            <a:extLst>
              <a:ext uri="{FF2B5EF4-FFF2-40B4-BE49-F238E27FC236}">
                <a16:creationId xmlns:a16="http://schemas.microsoft.com/office/drawing/2014/main" id="{95ACE6EB-D7FD-319C-ABE1-401083244A3D}"/>
              </a:ext>
            </a:extLst>
          </p:cNvPr>
          <p:cNvPicPr>
            <a:picLocks noGrp="1" noChangeAspect="1"/>
          </p:cNvPicPr>
          <p:nvPr>
            <p:ph sz="quarter" idx="11"/>
          </p:nvPr>
        </p:nvPicPr>
        <p:blipFill>
          <a:blip r:embed="rId3"/>
          <a:stretch>
            <a:fillRect/>
          </a:stretch>
        </p:blipFill>
        <p:spPr>
          <a:xfrm>
            <a:off x="87086" y="1193697"/>
            <a:ext cx="6008914" cy="2482191"/>
          </a:xfrm>
          <a:prstGeom prst="rect">
            <a:avLst/>
          </a:prstGeom>
          <a:ln w="12700">
            <a:solidFill>
              <a:srgbClr val="7030A0"/>
            </a:solidFill>
          </a:ln>
        </p:spPr>
      </p:pic>
      <p:sp>
        <p:nvSpPr>
          <p:cNvPr id="9" name="TextBox 8">
            <a:extLst>
              <a:ext uri="{FF2B5EF4-FFF2-40B4-BE49-F238E27FC236}">
                <a16:creationId xmlns:a16="http://schemas.microsoft.com/office/drawing/2014/main" id="{5261949D-5A5E-6B6D-0774-A38BDBDA6D24}"/>
              </a:ext>
            </a:extLst>
          </p:cNvPr>
          <p:cNvSpPr txBox="1"/>
          <p:nvPr/>
        </p:nvSpPr>
        <p:spPr>
          <a:xfrm>
            <a:off x="274320" y="755096"/>
            <a:ext cx="11109960" cy="646331"/>
          </a:xfrm>
          <a:prstGeom prst="rect">
            <a:avLst/>
          </a:prstGeom>
          <a:noFill/>
        </p:spPr>
        <p:txBody>
          <a:bodyPr wrap="square" rtlCol="0">
            <a:spAutoFit/>
          </a:bodyPr>
          <a:lstStyle/>
          <a:p>
            <a:r>
              <a:rPr lang="en-SG" b="1" dirty="0">
                <a:latin typeface="Calibri" panose="020F0502020204030204" pitchFamily="34" charset="0"/>
                <a:ea typeface="Calibri" panose="020F0502020204030204" pitchFamily="34" charset="0"/>
                <a:cs typeface="Calibri" panose="020F0502020204030204" pitchFamily="34" charset="0"/>
              </a:rPr>
              <a:t>Feature-importance analysis identifies the variables that contribute most to the </a:t>
            </a:r>
            <a:r>
              <a:rPr lang="en-SG" b="1" dirty="0" err="1">
                <a:latin typeface="Calibri" panose="020F0502020204030204" pitchFamily="34" charset="0"/>
                <a:ea typeface="Calibri" panose="020F0502020204030204" pitchFamily="34" charset="0"/>
                <a:cs typeface="Calibri" panose="020F0502020204030204" pitchFamily="34" charset="0"/>
              </a:rPr>
              <a:t>XGBoost</a:t>
            </a:r>
            <a:r>
              <a:rPr lang="en-SG" b="1" dirty="0">
                <a:latin typeface="Calibri" panose="020F0502020204030204" pitchFamily="34" charset="0"/>
                <a:ea typeface="Calibri" panose="020F0502020204030204" pitchFamily="34" charset="0"/>
                <a:cs typeface="Calibri" panose="020F0502020204030204" pitchFamily="34" charset="0"/>
              </a:rPr>
              <a:t> model's predictions.</a:t>
            </a:r>
          </a:p>
          <a:p>
            <a:endParaRPr lang="en-SG" dirty="0"/>
          </a:p>
        </p:txBody>
      </p:sp>
      <p:sp>
        <p:nvSpPr>
          <p:cNvPr id="17" name="Content Placeholder 16">
            <a:extLst>
              <a:ext uri="{FF2B5EF4-FFF2-40B4-BE49-F238E27FC236}">
                <a16:creationId xmlns:a16="http://schemas.microsoft.com/office/drawing/2014/main" id="{9E414FCB-EF28-F620-C2AA-D689AC438BA0}"/>
              </a:ext>
            </a:extLst>
          </p:cNvPr>
          <p:cNvSpPr>
            <a:spLocks noGrp="1"/>
          </p:cNvSpPr>
          <p:nvPr>
            <p:ph sz="quarter" idx="12"/>
          </p:nvPr>
        </p:nvSpPr>
        <p:spPr>
          <a:xfrm>
            <a:off x="87086" y="3718813"/>
            <a:ext cx="6008914" cy="2203016"/>
          </a:xfrm>
          <a:ln w="12700">
            <a:solidFill>
              <a:srgbClr val="7030A0"/>
            </a:solidFill>
          </a:ln>
        </p:spPr>
        <p:txBody>
          <a:bodyPr>
            <a:noAutofit/>
          </a:bodyPr>
          <a:lstStyle/>
          <a:p>
            <a:r>
              <a:rPr lang="en-SG" sz="1400" b="1" dirty="0">
                <a:latin typeface="Calibri" panose="020F0502020204030204" pitchFamily="34" charset="0"/>
                <a:ea typeface="Calibri" panose="020F0502020204030204" pitchFamily="34" charset="0"/>
                <a:cs typeface="Calibri" panose="020F0502020204030204" pitchFamily="34" charset="0"/>
              </a:rPr>
              <a:t>Key Finding:</a:t>
            </a:r>
          </a:p>
          <a:p>
            <a:pPr marL="285750" indent="-285750">
              <a:buFont typeface="Wingdings" panose="05000000000000000000" pitchFamily="2" charset="2"/>
              <a:buChar char="§"/>
            </a:pPr>
            <a:r>
              <a:rPr lang="en-SG" sz="1400" b="1" dirty="0">
                <a:latin typeface="Calibri" panose="020F0502020204030204" pitchFamily="34" charset="0"/>
                <a:ea typeface="Calibri" panose="020F0502020204030204" pitchFamily="34" charset="0"/>
                <a:cs typeface="Calibri" panose="020F0502020204030204" pitchFamily="34" charset="0"/>
              </a:rPr>
              <a:t>BMI is the dominant feature</a:t>
            </a:r>
            <a:r>
              <a:rPr lang="en-SG" sz="1400" dirty="0">
                <a:latin typeface="Calibri" panose="020F0502020204030204" pitchFamily="34" charset="0"/>
                <a:ea typeface="Calibri" panose="020F0502020204030204" pitchFamily="34" charset="0"/>
                <a:cs typeface="Calibri" panose="020F0502020204030204" pitchFamily="34" charset="0"/>
              </a:rPr>
              <a:t>, with an importance score of </a:t>
            </a:r>
            <a:r>
              <a:rPr lang="en-SG" sz="1400" b="1" dirty="0">
                <a:latin typeface="Calibri" panose="020F0502020204030204" pitchFamily="34" charset="0"/>
                <a:ea typeface="Calibri" panose="020F0502020204030204" pitchFamily="34" charset="0"/>
                <a:cs typeface="Calibri" panose="020F0502020204030204" pitchFamily="34" charset="0"/>
              </a:rPr>
              <a:t>0.5299</a:t>
            </a:r>
            <a:r>
              <a:rPr lang="en-SG" sz="1400"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Wingdings" panose="05000000000000000000" pitchFamily="2" charset="2"/>
              <a:buChar char="§"/>
            </a:pPr>
            <a:r>
              <a:rPr lang="en-SG" sz="1400" b="1" dirty="0" err="1">
                <a:latin typeface="Calibri" panose="020F0502020204030204" pitchFamily="34" charset="0"/>
                <a:ea typeface="Calibri" panose="020F0502020204030204" pitchFamily="34" charset="0"/>
                <a:cs typeface="Calibri" panose="020F0502020204030204" pitchFamily="34" charset="0"/>
              </a:rPr>
              <a:t>PhysHlth</a:t>
            </a:r>
            <a:r>
              <a:rPr lang="en-SG" sz="1400" dirty="0">
                <a:latin typeface="Calibri" panose="020F0502020204030204" pitchFamily="34" charset="0"/>
                <a:ea typeface="Calibri" panose="020F0502020204030204" pitchFamily="34" charset="0"/>
                <a:cs typeface="Calibri" panose="020F0502020204030204" pitchFamily="34" charset="0"/>
              </a:rPr>
              <a:t> is the second most important feature (</a:t>
            </a:r>
            <a:r>
              <a:rPr lang="en-SG" sz="1400" b="1" dirty="0">
                <a:latin typeface="Calibri" panose="020F0502020204030204" pitchFamily="34" charset="0"/>
                <a:ea typeface="Calibri" panose="020F0502020204030204" pitchFamily="34" charset="0"/>
                <a:cs typeface="Calibri" panose="020F0502020204030204" pitchFamily="34" charset="0"/>
              </a:rPr>
              <a:t>0.1091</a:t>
            </a:r>
            <a:r>
              <a:rPr lang="en-SG" sz="1400" dirty="0">
                <a:latin typeface="Calibri" panose="020F0502020204030204" pitchFamily="34" charset="0"/>
                <a:ea typeface="Calibri" panose="020F0502020204030204" pitchFamily="34" charset="0"/>
                <a:cs typeface="Calibri" panose="020F0502020204030204" pitchFamily="34" charset="0"/>
              </a:rPr>
              <a:t>).</a:t>
            </a:r>
          </a:p>
          <a:p>
            <a:pPr marL="285750" indent="-285750">
              <a:buFont typeface="Wingdings" panose="05000000000000000000" pitchFamily="2" charset="2"/>
              <a:buChar char="§"/>
            </a:pPr>
            <a:r>
              <a:rPr lang="en-SG" sz="1400" dirty="0">
                <a:latin typeface="Calibri" panose="020F0502020204030204" pitchFamily="34" charset="0"/>
                <a:ea typeface="Calibri" panose="020F0502020204030204" pitchFamily="34" charset="0"/>
                <a:cs typeface="Calibri" panose="020F0502020204030204" pitchFamily="34" charset="0"/>
              </a:rPr>
              <a:t> </a:t>
            </a:r>
            <a:r>
              <a:rPr lang="en-SG" sz="1400" b="1" dirty="0">
                <a:latin typeface="Calibri" panose="020F0502020204030204" pitchFamily="34" charset="0"/>
                <a:ea typeface="Calibri" panose="020F0502020204030204" pitchFamily="34" charset="0"/>
                <a:cs typeface="Calibri" panose="020F0502020204030204" pitchFamily="34" charset="0"/>
              </a:rPr>
              <a:t>Smoker, Age and </a:t>
            </a:r>
            <a:r>
              <a:rPr lang="en-SG" sz="1400" b="1" dirty="0" err="1">
                <a:latin typeface="Calibri" panose="020F0502020204030204" pitchFamily="34" charset="0"/>
                <a:ea typeface="Calibri" panose="020F0502020204030204" pitchFamily="34" charset="0"/>
                <a:cs typeface="Calibri" panose="020F0502020204030204" pitchFamily="34" charset="0"/>
              </a:rPr>
              <a:t>HighBP</a:t>
            </a:r>
            <a:r>
              <a:rPr lang="en-SG" sz="1400" dirty="0">
                <a:latin typeface="Calibri" panose="020F0502020204030204" pitchFamily="34" charset="0"/>
                <a:ea typeface="Calibri" panose="020F0502020204030204" pitchFamily="34" charset="0"/>
                <a:cs typeface="Calibri" panose="020F0502020204030204" pitchFamily="34" charset="0"/>
              </a:rPr>
              <a:t> are also among the leading predictors.</a:t>
            </a:r>
          </a:p>
          <a:p>
            <a:pPr marL="285750" indent="-285750">
              <a:buFont typeface="Wingdings" panose="05000000000000000000" pitchFamily="2" charset="2"/>
              <a:buChar char="§"/>
            </a:pPr>
            <a:r>
              <a:rPr lang="en-SG" sz="1400" dirty="0">
                <a:latin typeface="Calibri" panose="020F0502020204030204" pitchFamily="34" charset="0"/>
                <a:ea typeface="Calibri" panose="020F0502020204030204" pitchFamily="34" charset="0"/>
                <a:cs typeface="Calibri" panose="020F0502020204030204" pitchFamily="34" charset="0"/>
              </a:rPr>
              <a:t> The remaining top features contribute smaller but measurable importance. </a:t>
            </a:r>
          </a:p>
          <a:p>
            <a:pPr marL="285750" indent="-285750">
              <a:buFont typeface="Wingdings" panose="05000000000000000000" pitchFamily="2" charset="2"/>
              <a:buChar char="§"/>
            </a:pPr>
            <a:r>
              <a:rPr lang="en-SG" sz="1400" dirty="0">
                <a:latin typeface="Calibri" panose="020F0502020204030204" pitchFamily="34" charset="0"/>
                <a:ea typeface="Calibri" panose="020F0502020204030204" pitchFamily="34" charset="0"/>
                <a:cs typeface="Calibri" panose="020F0502020204030204" pitchFamily="34" charset="0"/>
              </a:rPr>
              <a:t>The model therefore relies on a </a:t>
            </a:r>
            <a:r>
              <a:rPr lang="en-SG" sz="1400" b="1" dirty="0">
                <a:latin typeface="Calibri" panose="020F0502020204030204" pitchFamily="34" charset="0"/>
                <a:ea typeface="Calibri" panose="020F0502020204030204" pitchFamily="34" charset="0"/>
                <a:cs typeface="Calibri" panose="020F0502020204030204" pitchFamily="34" charset="0"/>
              </a:rPr>
              <a:t>combination of physical health, demographic, and behavioural factors</a:t>
            </a:r>
            <a:r>
              <a:rPr lang="en-SG" sz="1400" dirty="0">
                <a:latin typeface="Calibri" panose="020F0502020204030204" pitchFamily="34" charset="0"/>
                <a:ea typeface="Calibri" panose="020F0502020204030204" pitchFamily="34" charset="0"/>
                <a:cs typeface="Calibri" panose="020F0502020204030204" pitchFamily="34" charset="0"/>
              </a:rPr>
              <a:t>.</a:t>
            </a:r>
          </a:p>
        </p:txBody>
      </p:sp>
      <p:sp>
        <p:nvSpPr>
          <p:cNvPr id="18" name="TextBox 17">
            <a:extLst>
              <a:ext uri="{FF2B5EF4-FFF2-40B4-BE49-F238E27FC236}">
                <a16:creationId xmlns:a16="http://schemas.microsoft.com/office/drawing/2014/main" id="{83DBD045-4F87-49B4-4B20-83488FF59788}"/>
              </a:ext>
            </a:extLst>
          </p:cNvPr>
          <p:cNvSpPr txBox="1"/>
          <p:nvPr/>
        </p:nvSpPr>
        <p:spPr>
          <a:xfrm>
            <a:off x="87086" y="6002785"/>
            <a:ext cx="6008913" cy="784830"/>
          </a:xfrm>
          <a:prstGeom prst="rect">
            <a:avLst/>
          </a:prstGeom>
          <a:noFill/>
          <a:ln w="12700">
            <a:solidFill>
              <a:srgbClr val="002060"/>
            </a:solidFill>
          </a:ln>
        </p:spPr>
        <p:txBody>
          <a:bodyPr wrap="square" rtlCol="0">
            <a:spAutoFit/>
          </a:bodyPr>
          <a:lstStyle/>
          <a:p>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Feature importance indicates how strongly the model relies on a variable for prediction; it does not establish a causal relationship with diabetes.</a:t>
            </a:r>
          </a:p>
          <a:p>
            <a:endParaRPr lang="en-SG" sz="1500" b="1" dirty="0">
              <a:solidFill>
                <a:srgbClr val="7030A0"/>
              </a:solidFill>
            </a:endParaRPr>
          </a:p>
        </p:txBody>
      </p:sp>
      <p:pic>
        <p:nvPicPr>
          <p:cNvPr id="20" name="Picture 19">
            <a:extLst>
              <a:ext uri="{FF2B5EF4-FFF2-40B4-BE49-F238E27FC236}">
                <a16:creationId xmlns:a16="http://schemas.microsoft.com/office/drawing/2014/main" id="{755CCE1C-290F-CA4C-18EE-C13F2F67A488}"/>
              </a:ext>
            </a:extLst>
          </p:cNvPr>
          <p:cNvPicPr>
            <a:picLocks noChangeAspect="1"/>
          </p:cNvPicPr>
          <p:nvPr/>
        </p:nvPicPr>
        <p:blipFill>
          <a:blip r:embed="rId4"/>
          <a:stretch>
            <a:fillRect/>
          </a:stretch>
        </p:blipFill>
        <p:spPr>
          <a:xfrm>
            <a:off x="6283235" y="1207191"/>
            <a:ext cx="5821680" cy="2468697"/>
          </a:xfrm>
          <a:prstGeom prst="rect">
            <a:avLst/>
          </a:prstGeom>
          <a:ln w="12700">
            <a:solidFill>
              <a:srgbClr val="7030A0"/>
            </a:solidFill>
          </a:ln>
        </p:spPr>
      </p:pic>
      <p:sp>
        <p:nvSpPr>
          <p:cNvPr id="21" name="Content Placeholder 16">
            <a:extLst>
              <a:ext uri="{FF2B5EF4-FFF2-40B4-BE49-F238E27FC236}">
                <a16:creationId xmlns:a16="http://schemas.microsoft.com/office/drawing/2014/main" id="{A2BCC8D5-05D6-B5AB-A5EF-34789FE2624C}"/>
              </a:ext>
            </a:extLst>
          </p:cNvPr>
          <p:cNvSpPr txBox="1">
            <a:spLocks/>
          </p:cNvSpPr>
          <p:nvPr/>
        </p:nvSpPr>
        <p:spPr>
          <a:xfrm flipH="1">
            <a:off x="6283235" y="3718813"/>
            <a:ext cx="5814274" cy="2203016"/>
          </a:xfrm>
          <a:prstGeom prst="rect">
            <a:avLst/>
          </a:prstGeom>
          <a:ln w="12700">
            <a:solidFill>
              <a:srgbClr val="7030A0"/>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SG" sz="1400" b="1" dirty="0">
                <a:latin typeface="Calibri" panose="020F0502020204030204" pitchFamily="34" charset="0"/>
                <a:ea typeface="Calibri" panose="020F0502020204030204" pitchFamily="34" charset="0"/>
                <a:cs typeface="Calibri" panose="020F0502020204030204" pitchFamily="34" charset="0"/>
              </a:rPr>
              <a:t>Key Finding:</a:t>
            </a:r>
          </a:p>
          <a:p>
            <a:pPr marL="285750" indent="-285750">
              <a:buFont typeface="Wingdings" panose="05000000000000000000" pitchFamily="2" charset="2"/>
              <a:buChar char="§"/>
            </a:pPr>
            <a:r>
              <a:rPr lang="en-SG" sz="1400" b="1" dirty="0" err="1">
                <a:latin typeface="Calibri" panose="020F0502020204030204" pitchFamily="34" charset="0"/>
                <a:ea typeface="Calibri" panose="020F0502020204030204" pitchFamily="34" charset="0"/>
                <a:cs typeface="Calibri" panose="020F0502020204030204" pitchFamily="34" charset="0"/>
              </a:rPr>
              <a:t>GenHlth</a:t>
            </a:r>
            <a:r>
              <a:rPr lang="en-SG" sz="1400" dirty="0">
                <a:latin typeface="Calibri" panose="020F0502020204030204" pitchFamily="34" charset="0"/>
                <a:ea typeface="Calibri" panose="020F0502020204030204" pitchFamily="34" charset="0"/>
                <a:cs typeface="Calibri" panose="020F0502020204030204" pitchFamily="34" charset="0"/>
              </a:rPr>
              <a:t> had the highest permutation importance (</a:t>
            </a:r>
            <a:r>
              <a:rPr lang="en-SG" sz="1400" b="1" dirty="0">
                <a:latin typeface="Calibri" panose="020F0502020204030204" pitchFamily="34" charset="0"/>
                <a:ea typeface="Calibri" panose="020F0502020204030204" pitchFamily="34" charset="0"/>
                <a:cs typeface="Calibri" panose="020F0502020204030204" pitchFamily="34" charset="0"/>
              </a:rPr>
              <a:t>0.0374</a:t>
            </a:r>
            <a:r>
              <a:rPr lang="en-SG" sz="1400"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Wingdings" panose="05000000000000000000" pitchFamily="2" charset="2"/>
              <a:buChar char="§"/>
            </a:pPr>
            <a:r>
              <a:rPr lang="en-SG" sz="1400" b="1" dirty="0">
                <a:latin typeface="Calibri" panose="020F0502020204030204" pitchFamily="34" charset="0"/>
                <a:ea typeface="Calibri" panose="020F0502020204030204" pitchFamily="34" charset="0"/>
                <a:cs typeface="Calibri" panose="020F0502020204030204" pitchFamily="34" charset="0"/>
              </a:rPr>
              <a:t>BMI (0.0295)</a:t>
            </a:r>
            <a:r>
              <a:rPr lang="en-SG" sz="1400" dirty="0">
                <a:latin typeface="Calibri" panose="020F0502020204030204" pitchFamily="34" charset="0"/>
                <a:ea typeface="Calibri" panose="020F0502020204030204" pitchFamily="34" charset="0"/>
                <a:cs typeface="Calibri" panose="020F0502020204030204" pitchFamily="34" charset="0"/>
              </a:rPr>
              <a:t> and </a:t>
            </a:r>
            <a:r>
              <a:rPr lang="en-SG" sz="1400" b="1" dirty="0">
                <a:latin typeface="Calibri" panose="020F0502020204030204" pitchFamily="34" charset="0"/>
                <a:ea typeface="Calibri" panose="020F0502020204030204" pitchFamily="34" charset="0"/>
                <a:cs typeface="Calibri" panose="020F0502020204030204" pitchFamily="34" charset="0"/>
              </a:rPr>
              <a:t>Age (0.0235)</a:t>
            </a:r>
            <a:r>
              <a:rPr lang="en-SG" sz="1400" dirty="0">
                <a:latin typeface="Calibri" panose="020F0502020204030204" pitchFamily="34" charset="0"/>
                <a:ea typeface="Calibri" panose="020F0502020204030204" pitchFamily="34" charset="0"/>
                <a:cs typeface="Calibri" panose="020F0502020204030204" pitchFamily="34" charset="0"/>
              </a:rPr>
              <a:t> were the next most influential features. </a:t>
            </a:r>
          </a:p>
          <a:p>
            <a:pPr marL="285750" indent="-285750">
              <a:buFont typeface="Wingdings" panose="05000000000000000000" pitchFamily="2" charset="2"/>
              <a:buChar char="§"/>
            </a:pPr>
            <a:r>
              <a:rPr lang="en-SG" sz="1400" b="1" dirty="0" err="1">
                <a:latin typeface="Calibri" panose="020F0502020204030204" pitchFamily="34" charset="0"/>
                <a:ea typeface="Calibri" panose="020F0502020204030204" pitchFamily="34" charset="0"/>
                <a:cs typeface="Calibri" panose="020F0502020204030204" pitchFamily="34" charset="0"/>
              </a:rPr>
              <a:t>HighBP</a:t>
            </a:r>
            <a:r>
              <a:rPr lang="en-SG" sz="1400" dirty="0">
                <a:latin typeface="Calibri" panose="020F0502020204030204" pitchFamily="34" charset="0"/>
                <a:ea typeface="Calibri" panose="020F0502020204030204" pitchFamily="34" charset="0"/>
                <a:cs typeface="Calibri" panose="020F0502020204030204" pitchFamily="34" charset="0"/>
              </a:rPr>
              <a:t> and </a:t>
            </a:r>
            <a:r>
              <a:rPr lang="en-SG" sz="1400" b="1" dirty="0" err="1">
                <a:latin typeface="Calibri" panose="020F0502020204030204" pitchFamily="34" charset="0"/>
                <a:ea typeface="Calibri" panose="020F0502020204030204" pitchFamily="34" charset="0"/>
                <a:cs typeface="Calibri" panose="020F0502020204030204" pitchFamily="34" charset="0"/>
              </a:rPr>
              <a:t>HighChol</a:t>
            </a:r>
            <a:r>
              <a:rPr lang="en-SG" sz="1400" dirty="0">
                <a:latin typeface="Calibri" panose="020F0502020204030204" pitchFamily="34" charset="0"/>
                <a:ea typeface="Calibri" panose="020F0502020204030204" pitchFamily="34" charset="0"/>
                <a:cs typeface="Calibri" panose="020F0502020204030204" pitchFamily="34" charset="0"/>
              </a:rPr>
              <a:t> also contributed to model performance. </a:t>
            </a:r>
          </a:p>
          <a:p>
            <a:pPr marL="285750" indent="-285750">
              <a:buFont typeface="Wingdings" panose="05000000000000000000" pitchFamily="2" charset="2"/>
              <a:buChar char="§"/>
            </a:pPr>
            <a:r>
              <a:rPr lang="en-SG" sz="1400" dirty="0">
                <a:latin typeface="Calibri" panose="020F0502020204030204" pitchFamily="34" charset="0"/>
                <a:ea typeface="Calibri" panose="020F0502020204030204" pitchFamily="34" charset="0"/>
                <a:cs typeface="Calibri" panose="020F0502020204030204" pitchFamily="34" charset="0"/>
              </a:rPr>
              <a:t>Shuffling these features caused a greater reduction in predictive performance. </a:t>
            </a:r>
          </a:p>
          <a:p>
            <a:pPr marL="285750" indent="-285750">
              <a:buFont typeface="Wingdings" panose="05000000000000000000" pitchFamily="2" charset="2"/>
              <a:buChar char="§"/>
            </a:pPr>
            <a:r>
              <a:rPr lang="en-SG" sz="1400" dirty="0">
                <a:latin typeface="Calibri" panose="020F0502020204030204" pitchFamily="34" charset="0"/>
                <a:ea typeface="Calibri" panose="020F0502020204030204" pitchFamily="34" charset="0"/>
                <a:cs typeface="Calibri" panose="020F0502020204030204" pitchFamily="34" charset="0"/>
              </a:rPr>
              <a:t>The ranking provides a </a:t>
            </a:r>
            <a:r>
              <a:rPr lang="en-SG" sz="1400" b="1" dirty="0">
                <a:latin typeface="Calibri" panose="020F0502020204030204" pitchFamily="34" charset="0"/>
                <a:ea typeface="Calibri" panose="020F0502020204030204" pitchFamily="34" charset="0"/>
                <a:cs typeface="Calibri" panose="020F0502020204030204" pitchFamily="34" charset="0"/>
              </a:rPr>
              <a:t>complementary view of feature importance</a:t>
            </a:r>
            <a:r>
              <a:rPr lang="en-SG" sz="1400" dirty="0">
                <a:latin typeface="Calibri" panose="020F0502020204030204" pitchFamily="34" charset="0"/>
                <a:ea typeface="Calibri" panose="020F0502020204030204" pitchFamily="34" charset="0"/>
                <a:cs typeface="Calibri" panose="020F0502020204030204" pitchFamily="34" charset="0"/>
              </a:rPr>
              <a:t> beyond the </a:t>
            </a:r>
            <a:r>
              <a:rPr lang="en-SG" sz="1400" dirty="0" err="1">
                <a:latin typeface="Calibri" panose="020F0502020204030204" pitchFamily="34" charset="0"/>
                <a:ea typeface="Calibri" panose="020F0502020204030204" pitchFamily="34" charset="0"/>
                <a:cs typeface="Calibri" panose="020F0502020204030204" pitchFamily="34" charset="0"/>
              </a:rPr>
              <a:t>XGBoost</a:t>
            </a:r>
            <a:r>
              <a:rPr lang="en-SG" sz="1400" dirty="0">
                <a:latin typeface="Calibri" panose="020F0502020204030204" pitchFamily="34" charset="0"/>
                <a:ea typeface="Calibri" panose="020F0502020204030204" pitchFamily="34" charset="0"/>
                <a:cs typeface="Calibri" panose="020F0502020204030204" pitchFamily="34" charset="0"/>
              </a:rPr>
              <a:t> built-in importance.</a:t>
            </a:r>
            <a:endParaRPr lang="en-SG" sz="1400" b="1"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79F5484-3001-FA07-445A-17AC0B84E601}"/>
              </a:ext>
            </a:extLst>
          </p:cNvPr>
          <p:cNvSpPr txBox="1"/>
          <p:nvPr/>
        </p:nvSpPr>
        <p:spPr>
          <a:xfrm>
            <a:off x="6341819" y="6002785"/>
            <a:ext cx="5763095" cy="784830"/>
          </a:xfrm>
          <a:prstGeom prst="rect">
            <a:avLst/>
          </a:prstGeom>
          <a:noFill/>
          <a:ln w="12700">
            <a:solidFill>
              <a:srgbClr val="002060"/>
            </a:solidFill>
          </a:ln>
        </p:spPr>
        <p:txBody>
          <a:bodyPr wrap="square" rtlCol="0">
            <a:spAutoFit/>
          </a:bodyPr>
          <a:lstStyle/>
          <a:p>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Permutation importance confirms that health status, BMI, age, and </a:t>
            </a:r>
            <a:r>
              <a:rPr lang="en-SG" sz="1500" b="1" dirty="0" err="1">
                <a:solidFill>
                  <a:srgbClr val="7030A0"/>
                </a:solidFill>
                <a:latin typeface="Calibri" panose="020F0502020204030204" pitchFamily="34" charset="0"/>
                <a:ea typeface="Calibri" panose="020F0502020204030204" pitchFamily="34" charset="0"/>
                <a:cs typeface="Calibri" panose="020F0502020204030204" pitchFamily="34" charset="0"/>
              </a:rPr>
              <a:t>HighBP</a:t>
            </a:r>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 are important for maintaining </a:t>
            </a:r>
            <a:r>
              <a:rPr lang="en-SG" sz="1500" b="1" dirty="0" err="1">
                <a:solidFill>
                  <a:srgbClr val="7030A0"/>
                </a:solidFill>
                <a:latin typeface="Calibri" panose="020F0502020204030204" pitchFamily="34" charset="0"/>
                <a:ea typeface="Calibri" panose="020F0502020204030204" pitchFamily="34" charset="0"/>
                <a:cs typeface="Calibri" panose="020F0502020204030204" pitchFamily="34" charset="0"/>
              </a:rPr>
              <a:t>XGBoost</a:t>
            </a:r>
            <a:r>
              <a:rPr lang="en-SG" sz="1500" b="1" dirty="0">
                <a:solidFill>
                  <a:srgbClr val="7030A0"/>
                </a:solidFill>
                <a:latin typeface="Calibri" panose="020F0502020204030204" pitchFamily="34" charset="0"/>
                <a:ea typeface="Calibri" panose="020F0502020204030204" pitchFamily="34" charset="0"/>
                <a:cs typeface="Calibri" panose="020F0502020204030204" pitchFamily="34" charset="0"/>
              </a:rPr>
              <a:t> predictive performance.</a:t>
            </a:r>
          </a:p>
        </p:txBody>
      </p:sp>
    </p:spTree>
    <p:extLst>
      <p:ext uri="{BB962C8B-B14F-4D97-AF65-F5344CB8AC3E}">
        <p14:creationId xmlns:p14="http://schemas.microsoft.com/office/powerpoint/2010/main" val="39661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92D2DE05-494C-641A-3C82-EE76B2DCB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A03882-4B69-A1DD-58D9-4A183546933E}"/>
              </a:ext>
            </a:extLst>
          </p:cNvPr>
          <p:cNvSpPr>
            <a:spLocks noGrp="1"/>
          </p:cNvSpPr>
          <p:nvPr>
            <p:ph type="title"/>
          </p:nvPr>
        </p:nvSpPr>
        <p:spPr>
          <a:xfrm>
            <a:off x="-15240" y="32671"/>
            <a:ext cx="12207240" cy="308082"/>
          </a:xfrm>
        </p:spPr>
        <p:txBody>
          <a:bodyPr wrap="square" anchor="t">
            <a:noAutofit/>
          </a:bodyPr>
          <a:lstStyle/>
          <a:p>
            <a:pPr algn="ctr">
              <a:spcAft>
                <a:spcPts val="400"/>
              </a:spcAft>
              <a:defRPr sz="2200" b="1">
                <a:solidFill>
                  <a:srgbClr val="002060"/>
                </a:solidFill>
                <a:latin typeface="Calibri"/>
              </a:defRPr>
            </a:pPr>
            <a:r>
              <a:rPr sz="2200" b="1" dirty="0">
                <a:solidFill>
                  <a:srgbClr val="002060"/>
                </a:solidFill>
                <a:latin typeface="Calibri"/>
              </a:rPr>
              <a:t>G</a:t>
            </a:r>
            <a:r>
              <a:rPr lang="en-SG" sz="2200" b="1" dirty="0">
                <a:solidFill>
                  <a:srgbClr val="002060"/>
                </a:solidFill>
                <a:latin typeface="Calibri"/>
              </a:rPr>
              <a:t>LOBAL</a:t>
            </a:r>
            <a:r>
              <a:rPr sz="2200" b="1" dirty="0">
                <a:solidFill>
                  <a:srgbClr val="002060"/>
                </a:solidFill>
                <a:latin typeface="Calibri"/>
              </a:rPr>
              <a:t> SHAP </a:t>
            </a:r>
            <a:r>
              <a:rPr lang="en-SG" sz="2200" b="1" dirty="0">
                <a:solidFill>
                  <a:srgbClr val="002060"/>
                </a:solidFill>
                <a:latin typeface="Calibri"/>
              </a:rPr>
              <a:t>FEATURE IMPORTANCE</a:t>
            </a:r>
            <a:r>
              <a:rPr sz="2200" b="1" dirty="0">
                <a:solidFill>
                  <a:srgbClr val="002060"/>
                </a:solidFill>
                <a:latin typeface="Calibri"/>
              </a:rPr>
              <a:t>– </a:t>
            </a:r>
            <a:r>
              <a:rPr sz="2200" b="1" dirty="0" err="1">
                <a:solidFill>
                  <a:srgbClr val="002060"/>
                </a:solidFill>
                <a:latin typeface="Calibri"/>
              </a:rPr>
              <a:t>XGBoost</a:t>
            </a:r>
            <a:endParaRPr sz="2200" b="1" dirty="0">
              <a:solidFill>
                <a:srgbClr val="002060"/>
              </a:solidFill>
              <a:latin typeface="Calibri"/>
            </a:endParaRPr>
          </a:p>
        </p:txBody>
      </p:sp>
      <p:sp>
        <p:nvSpPr>
          <p:cNvPr id="3" name="Rounded Rectangle 2"/>
          <p:cNvSpPr/>
          <p:nvPr/>
        </p:nvSpPr>
        <p:spPr>
          <a:xfrm>
            <a:off x="251460" y="423748"/>
            <a:ext cx="7941999" cy="1334069"/>
          </a:xfrm>
          <a:prstGeom prst="roundRect">
            <a:avLst/>
          </a:prstGeom>
          <a:solidFill>
            <a:srgbClr val="D9F0F7"/>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41525" y="505737"/>
            <a:ext cx="3410712" cy="310896"/>
          </a:xfrm>
          <a:prstGeom prst="rect">
            <a:avLst/>
          </a:prstGeom>
          <a:noFill/>
        </p:spPr>
        <p:txBody>
          <a:bodyPr wrap="square" anchor="t">
            <a:spAutoFit/>
          </a:bodyPr>
          <a:lstStyle/>
          <a:p>
            <a:pPr algn="l"/>
            <a:r>
              <a:rPr sz="1450" b="1" dirty="0">
                <a:solidFill>
                  <a:srgbClr val="002060"/>
                </a:solidFill>
                <a:latin typeface="Calibri"/>
              </a:rPr>
              <a:t>1. What the chart measures</a:t>
            </a:r>
          </a:p>
        </p:txBody>
      </p:sp>
      <p:sp>
        <p:nvSpPr>
          <p:cNvPr id="5" name="TextBox 4"/>
          <p:cNvSpPr txBox="1"/>
          <p:nvPr/>
        </p:nvSpPr>
        <p:spPr>
          <a:xfrm>
            <a:off x="441525" y="803710"/>
            <a:ext cx="7439732" cy="954107"/>
          </a:xfrm>
          <a:prstGeom prst="rect">
            <a:avLst/>
          </a:prstGeom>
          <a:noFill/>
        </p:spPr>
        <p:txBody>
          <a:bodyPr wrap="square">
            <a:spAutoFit/>
          </a:bodyPr>
          <a:lstStyle/>
          <a:p>
            <a:pPr>
              <a:spcAft>
                <a:spcPts val="400"/>
              </a:spcAft>
              <a:defRPr sz="1150">
                <a:solidFill>
                  <a:srgbClr val="222222"/>
                </a:solidFill>
                <a:latin typeface="Calibri"/>
              </a:defRPr>
            </a:pPr>
            <a:r>
              <a:rPr dirty="0"/>
              <a:t>• Mean |SHAP value| = average absolute contribution across observations.</a:t>
            </a:r>
          </a:p>
          <a:p>
            <a:pPr>
              <a:spcAft>
                <a:spcPts val="400"/>
              </a:spcAft>
              <a:defRPr sz="1150">
                <a:solidFill>
                  <a:srgbClr val="222222"/>
                </a:solidFill>
                <a:latin typeface="Calibri"/>
              </a:defRPr>
            </a:pPr>
            <a:r>
              <a:rPr dirty="0"/>
              <a:t>• Larger value = greater average influence on </a:t>
            </a:r>
            <a:r>
              <a:rPr dirty="0" err="1"/>
              <a:t>XGBoost</a:t>
            </a:r>
            <a:r>
              <a:rPr dirty="0"/>
              <a:t> predictions.</a:t>
            </a:r>
          </a:p>
          <a:p>
            <a:pPr>
              <a:spcAft>
                <a:spcPts val="400"/>
              </a:spcAft>
              <a:defRPr sz="1150">
                <a:solidFill>
                  <a:srgbClr val="222222"/>
                </a:solidFill>
                <a:latin typeface="Calibri"/>
              </a:defRPr>
            </a:pPr>
            <a:r>
              <a:rPr dirty="0"/>
              <a:t>• Answers: “Which features matter most overall?”</a:t>
            </a:r>
          </a:p>
          <a:p>
            <a:pPr>
              <a:spcAft>
                <a:spcPts val="400"/>
              </a:spcAft>
              <a:defRPr sz="1150">
                <a:solidFill>
                  <a:srgbClr val="222222"/>
                </a:solidFill>
                <a:latin typeface="Calibri"/>
              </a:defRPr>
            </a:pPr>
            <a:r>
              <a:rPr dirty="0"/>
              <a:t>• It does NOT show whether a feature increases or decreases a prediction.</a:t>
            </a:r>
          </a:p>
        </p:txBody>
      </p:sp>
      <p:sp>
        <p:nvSpPr>
          <p:cNvPr id="6" name="Rounded Rectangle 5"/>
          <p:cNvSpPr/>
          <p:nvPr/>
        </p:nvSpPr>
        <p:spPr>
          <a:xfrm>
            <a:off x="8358704" y="423748"/>
            <a:ext cx="3703320" cy="1965960"/>
          </a:xfrm>
          <a:prstGeom prst="roundRect">
            <a:avLst/>
          </a:prstGeom>
          <a:solidFill>
            <a:srgbClr val="F0D8F2"/>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39763" y="522950"/>
            <a:ext cx="3410712" cy="310896"/>
          </a:xfrm>
          <a:prstGeom prst="rect">
            <a:avLst/>
          </a:prstGeom>
          <a:noFill/>
        </p:spPr>
        <p:txBody>
          <a:bodyPr wrap="square" anchor="t">
            <a:spAutoFit/>
          </a:bodyPr>
          <a:lstStyle/>
          <a:p>
            <a:pPr algn="l"/>
            <a:r>
              <a:rPr sz="1450" b="1" dirty="0">
                <a:solidFill>
                  <a:srgbClr val="002060"/>
                </a:solidFill>
                <a:latin typeface="Calibri"/>
              </a:rPr>
              <a:t>2. What our model shows</a:t>
            </a:r>
          </a:p>
        </p:txBody>
      </p:sp>
      <p:sp>
        <p:nvSpPr>
          <p:cNvPr id="8" name="TextBox 7"/>
          <p:cNvSpPr txBox="1"/>
          <p:nvPr/>
        </p:nvSpPr>
        <p:spPr>
          <a:xfrm>
            <a:off x="8454063" y="803711"/>
            <a:ext cx="3410712" cy="1399031"/>
          </a:xfrm>
          <a:prstGeom prst="rect">
            <a:avLst/>
          </a:prstGeom>
          <a:noFill/>
        </p:spPr>
        <p:txBody>
          <a:bodyPr wrap="square">
            <a:spAutoFit/>
          </a:bodyPr>
          <a:lstStyle/>
          <a:p>
            <a:pPr>
              <a:spcAft>
                <a:spcPts val="400"/>
              </a:spcAft>
              <a:defRPr sz="1150">
                <a:solidFill>
                  <a:srgbClr val="222222"/>
                </a:solidFill>
                <a:latin typeface="Calibri"/>
              </a:defRPr>
            </a:pPr>
            <a:r>
              <a:rPr dirty="0"/>
              <a:t>• Stroke: 1.03 — largest overall contribution.</a:t>
            </a:r>
          </a:p>
          <a:p>
            <a:pPr>
              <a:spcAft>
                <a:spcPts val="400"/>
              </a:spcAft>
              <a:defRPr sz="1150">
                <a:solidFill>
                  <a:srgbClr val="222222"/>
                </a:solidFill>
                <a:latin typeface="Calibri"/>
              </a:defRPr>
            </a:pPr>
            <a:r>
              <a:rPr dirty="0"/>
              <a:t>• </a:t>
            </a:r>
            <a:r>
              <a:rPr dirty="0" err="1"/>
              <a:t>PhysHlth</a:t>
            </a:r>
            <a:r>
              <a:rPr dirty="0"/>
              <a:t>: 0.80 — second largest contribution.</a:t>
            </a:r>
          </a:p>
          <a:p>
            <a:pPr>
              <a:spcAft>
                <a:spcPts val="400"/>
              </a:spcAft>
              <a:defRPr sz="1150">
                <a:solidFill>
                  <a:srgbClr val="222222"/>
                </a:solidFill>
                <a:latin typeface="Calibri"/>
              </a:defRPr>
            </a:pPr>
            <a:r>
              <a:rPr dirty="0"/>
              <a:t>• BMI: 0.41 and Age: 0.39 — substantial influence.</a:t>
            </a:r>
          </a:p>
          <a:p>
            <a:pPr>
              <a:spcAft>
                <a:spcPts val="400"/>
              </a:spcAft>
              <a:defRPr sz="1150">
                <a:solidFill>
                  <a:srgbClr val="222222"/>
                </a:solidFill>
                <a:latin typeface="Calibri"/>
              </a:defRPr>
            </a:pPr>
            <a:r>
              <a:rPr dirty="0"/>
              <a:t>• Smoker and </a:t>
            </a:r>
            <a:r>
              <a:rPr dirty="0" err="1"/>
              <a:t>HighBP</a:t>
            </a:r>
            <a:r>
              <a:rPr dirty="0"/>
              <a:t>: about 0.27 each.</a:t>
            </a:r>
          </a:p>
          <a:p>
            <a:pPr>
              <a:spcAft>
                <a:spcPts val="400"/>
              </a:spcAft>
              <a:defRPr sz="1150">
                <a:solidFill>
                  <a:srgbClr val="222222"/>
                </a:solidFill>
                <a:latin typeface="Calibri"/>
              </a:defRPr>
            </a:pPr>
            <a:r>
              <a:rPr dirty="0"/>
              <a:t>• These features have the greatest average impact.</a:t>
            </a:r>
          </a:p>
        </p:txBody>
      </p:sp>
      <p:sp>
        <p:nvSpPr>
          <p:cNvPr id="9" name="Rounded Rectangle 8"/>
          <p:cNvSpPr/>
          <p:nvPr/>
        </p:nvSpPr>
        <p:spPr>
          <a:xfrm>
            <a:off x="8193459" y="2446020"/>
            <a:ext cx="3931920" cy="1965960"/>
          </a:xfrm>
          <a:prstGeom prst="roundRect">
            <a:avLst/>
          </a:prstGeom>
          <a:solidFill>
            <a:srgbClr val="E2F0D9"/>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0708" y="2651759"/>
            <a:ext cx="3639312" cy="310896"/>
          </a:xfrm>
          <a:prstGeom prst="rect">
            <a:avLst/>
          </a:prstGeom>
          <a:noFill/>
        </p:spPr>
        <p:txBody>
          <a:bodyPr wrap="square" anchor="t">
            <a:spAutoFit/>
          </a:bodyPr>
          <a:lstStyle/>
          <a:p>
            <a:pPr algn="l"/>
            <a:r>
              <a:rPr sz="1450" b="1" dirty="0">
                <a:solidFill>
                  <a:srgbClr val="002060"/>
                </a:solidFill>
                <a:latin typeface="Calibri"/>
              </a:rPr>
              <a:t>3. Relationship with prediction</a:t>
            </a:r>
          </a:p>
        </p:txBody>
      </p:sp>
      <p:sp>
        <p:nvSpPr>
          <p:cNvPr id="11" name="TextBox 10"/>
          <p:cNvSpPr txBox="1"/>
          <p:nvPr/>
        </p:nvSpPr>
        <p:spPr>
          <a:xfrm>
            <a:off x="8339763" y="2958570"/>
            <a:ext cx="3639312" cy="1399031"/>
          </a:xfrm>
          <a:prstGeom prst="rect">
            <a:avLst/>
          </a:prstGeom>
          <a:noFill/>
        </p:spPr>
        <p:txBody>
          <a:bodyPr wrap="square">
            <a:spAutoFit/>
          </a:bodyPr>
          <a:lstStyle/>
          <a:p>
            <a:pPr>
              <a:spcAft>
                <a:spcPts val="400"/>
              </a:spcAft>
              <a:defRPr sz="1150">
                <a:solidFill>
                  <a:srgbClr val="222222"/>
                </a:solidFill>
                <a:latin typeface="Calibri"/>
              </a:defRPr>
            </a:pPr>
            <a:r>
              <a:rPr dirty="0"/>
              <a:t>• High importance means a feature can strongly change model output.</a:t>
            </a:r>
          </a:p>
          <a:p>
            <a:pPr>
              <a:spcAft>
                <a:spcPts val="400"/>
              </a:spcAft>
              <a:defRPr sz="1150">
                <a:solidFill>
                  <a:srgbClr val="222222"/>
                </a:solidFill>
                <a:latin typeface="Calibri"/>
              </a:defRPr>
            </a:pPr>
            <a:r>
              <a:rPr dirty="0"/>
              <a:t>• The same feature can contribute positively for some people and negatively for others.</a:t>
            </a:r>
          </a:p>
          <a:p>
            <a:pPr>
              <a:spcAft>
                <a:spcPts val="400"/>
              </a:spcAft>
              <a:defRPr sz="1150">
                <a:solidFill>
                  <a:srgbClr val="222222"/>
                </a:solidFill>
                <a:latin typeface="Calibri"/>
              </a:defRPr>
            </a:pPr>
            <a:r>
              <a:rPr dirty="0"/>
              <a:t>• Direction must be interpreted using the </a:t>
            </a:r>
            <a:r>
              <a:rPr dirty="0" err="1"/>
              <a:t>Beeswarm</a:t>
            </a:r>
            <a:r>
              <a:rPr dirty="0"/>
              <a:t> plot.</a:t>
            </a:r>
          </a:p>
          <a:p>
            <a:pPr>
              <a:spcAft>
                <a:spcPts val="400"/>
              </a:spcAft>
              <a:defRPr sz="1150">
                <a:solidFill>
                  <a:srgbClr val="222222"/>
                </a:solidFill>
                <a:latin typeface="Calibri"/>
              </a:defRPr>
            </a:pPr>
            <a:r>
              <a:rPr dirty="0"/>
              <a:t>• SHAP describes model </a:t>
            </a:r>
            <a:r>
              <a:rPr dirty="0" err="1"/>
              <a:t>behaviour</a:t>
            </a:r>
            <a:r>
              <a:rPr dirty="0"/>
              <a:t>, not clinical causation.</a:t>
            </a:r>
          </a:p>
        </p:txBody>
      </p:sp>
      <p:sp>
        <p:nvSpPr>
          <p:cNvPr id="12" name="Rounded Rectangle 11"/>
          <p:cNvSpPr/>
          <p:nvPr/>
        </p:nvSpPr>
        <p:spPr>
          <a:xfrm>
            <a:off x="228599" y="4445471"/>
            <a:ext cx="11649456" cy="265669"/>
          </a:xfrm>
          <a:prstGeom prst="roundRect">
            <a:avLst/>
          </a:prstGeom>
          <a:solidFill>
            <a:srgbClr val="FFFFFF"/>
          </a:solidFill>
          <a:ln>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320" b="1" dirty="0">
                <a:solidFill>
                  <a:srgbClr val="002060"/>
                </a:solidFill>
                <a:latin typeface="Calibri"/>
              </a:rPr>
              <a:t>Importance ranking:  Stroke 1.03  &gt;  </a:t>
            </a:r>
            <a:r>
              <a:rPr sz="1320" b="1" dirty="0" err="1">
                <a:solidFill>
                  <a:srgbClr val="002060"/>
                </a:solidFill>
                <a:latin typeface="Calibri"/>
              </a:rPr>
              <a:t>PhysHlth</a:t>
            </a:r>
            <a:r>
              <a:rPr sz="1320" b="1" dirty="0">
                <a:solidFill>
                  <a:srgbClr val="002060"/>
                </a:solidFill>
                <a:latin typeface="Calibri"/>
              </a:rPr>
              <a:t> 0.80  &gt;  BMI 0.41  &gt;  Age 0.39  &gt;  Smoker / </a:t>
            </a:r>
            <a:r>
              <a:rPr sz="1320" b="1" dirty="0" err="1">
                <a:solidFill>
                  <a:srgbClr val="002060"/>
                </a:solidFill>
                <a:latin typeface="Calibri"/>
              </a:rPr>
              <a:t>HighBP</a:t>
            </a:r>
            <a:r>
              <a:rPr sz="1320" b="1" dirty="0">
                <a:solidFill>
                  <a:srgbClr val="002060"/>
                </a:solidFill>
                <a:latin typeface="Calibri"/>
              </a:rPr>
              <a:t> ≈ 0.27</a:t>
            </a:r>
          </a:p>
        </p:txBody>
      </p:sp>
      <p:sp>
        <p:nvSpPr>
          <p:cNvPr id="13" name="Rounded Rectangle 12"/>
          <p:cNvSpPr/>
          <p:nvPr/>
        </p:nvSpPr>
        <p:spPr>
          <a:xfrm>
            <a:off x="219456" y="4818604"/>
            <a:ext cx="5876544" cy="1961403"/>
          </a:xfrm>
          <a:prstGeom prst="roundRect">
            <a:avLst/>
          </a:prstGeom>
          <a:solidFill>
            <a:srgbClr val="D9F0F7"/>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 y="4781377"/>
            <a:ext cx="5330952" cy="310896"/>
          </a:xfrm>
          <a:prstGeom prst="rect">
            <a:avLst/>
          </a:prstGeom>
          <a:noFill/>
        </p:spPr>
        <p:txBody>
          <a:bodyPr wrap="square" anchor="t">
            <a:spAutoFit/>
          </a:bodyPr>
          <a:lstStyle/>
          <a:p>
            <a:pPr algn="l"/>
            <a:r>
              <a:rPr sz="1450" b="1" dirty="0">
                <a:solidFill>
                  <a:srgbClr val="002060"/>
                </a:solidFill>
                <a:latin typeface="Calibri"/>
              </a:rPr>
              <a:t>Feature → Prediction interpretation</a:t>
            </a:r>
          </a:p>
        </p:txBody>
      </p:sp>
      <p:sp>
        <p:nvSpPr>
          <p:cNvPr id="15" name="TextBox 14"/>
          <p:cNvSpPr txBox="1"/>
          <p:nvPr/>
        </p:nvSpPr>
        <p:spPr>
          <a:xfrm>
            <a:off x="228599" y="5092273"/>
            <a:ext cx="5678859" cy="1289584"/>
          </a:xfrm>
          <a:prstGeom prst="rect">
            <a:avLst/>
          </a:prstGeom>
          <a:noFill/>
        </p:spPr>
        <p:txBody>
          <a:bodyPr wrap="square">
            <a:spAutoFit/>
          </a:bodyPr>
          <a:lstStyle/>
          <a:p>
            <a:pPr>
              <a:spcAft>
                <a:spcPts val="400"/>
              </a:spcAft>
              <a:defRPr sz="1130">
                <a:solidFill>
                  <a:srgbClr val="222222"/>
                </a:solidFill>
                <a:latin typeface="Calibri"/>
              </a:defRPr>
            </a:pPr>
            <a:r>
              <a:rPr dirty="0"/>
              <a:t>Stroke: strongest average contribution, so its value can substantially alter predicted probability.</a:t>
            </a:r>
          </a:p>
          <a:p>
            <a:pPr>
              <a:spcAft>
                <a:spcPts val="400"/>
              </a:spcAft>
              <a:defRPr sz="1130">
                <a:solidFill>
                  <a:srgbClr val="222222"/>
                </a:solidFill>
                <a:latin typeface="Calibri"/>
              </a:defRPr>
            </a:pPr>
            <a:r>
              <a:rPr dirty="0" err="1"/>
              <a:t>PhysHlth</a:t>
            </a:r>
            <a:r>
              <a:rPr dirty="0"/>
              <a:t>: second strongest; variation in physical-health status contributes strongly to prediction.</a:t>
            </a:r>
          </a:p>
          <a:p>
            <a:pPr>
              <a:spcAft>
                <a:spcPts val="400"/>
              </a:spcAft>
              <a:defRPr sz="1130">
                <a:solidFill>
                  <a:srgbClr val="222222"/>
                </a:solidFill>
                <a:latin typeface="Calibri"/>
              </a:defRPr>
            </a:pPr>
            <a:r>
              <a:rPr dirty="0"/>
              <a:t>BMI and Age: important signals that materially influence model output.</a:t>
            </a:r>
          </a:p>
          <a:p>
            <a:pPr>
              <a:spcAft>
                <a:spcPts val="400"/>
              </a:spcAft>
              <a:defRPr sz="1130">
                <a:solidFill>
                  <a:srgbClr val="222222"/>
                </a:solidFill>
                <a:latin typeface="Calibri"/>
              </a:defRPr>
            </a:pPr>
            <a:r>
              <a:rPr dirty="0" err="1"/>
              <a:t>HighBP</a:t>
            </a:r>
            <a:r>
              <a:rPr dirty="0"/>
              <a:t> and Smoker: meaningful contributors; direction is interpreted from the </a:t>
            </a:r>
            <a:r>
              <a:rPr dirty="0" err="1"/>
              <a:t>Beeswarm</a:t>
            </a:r>
            <a:r>
              <a:rPr dirty="0"/>
              <a:t>.</a:t>
            </a:r>
          </a:p>
        </p:txBody>
      </p:sp>
      <p:sp>
        <p:nvSpPr>
          <p:cNvPr id="16" name="Rounded Rectangle 15"/>
          <p:cNvSpPr/>
          <p:nvPr/>
        </p:nvSpPr>
        <p:spPr>
          <a:xfrm>
            <a:off x="6248835" y="4818604"/>
            <a:ext cx="5876544" cy="1871768"/>
          </a:xfrm>
          <a:prstGeom prst="roundRect">
            <a:avLst/>
          </a:prstGeom>
          <a:solidFill>
            <a:srgbClr val="F0D8F2"/>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96742" y="4931229"/>
            <a:ext cx="3635829" cy="315471"/>
          </a:xfrm>
          <a:prstGeom prst="rect">
            <a:avLst/>
          </a:prstGeom>
          <a:noFill/>
        </p:spPr>
        <p:txBody>
          <a:bodyPr wrap="square" anchor="t">
            <a:spAutoFit/>
          </a:bodyPr>
          <a:lstStyle/>
          <a:p>
            <a:pPr algn="l"/>
            <a:r>
              <a:rPr sz="1450" b="1" dirty="0">
                <a:solidFill>
                  <a:srgbClr val="002060"/>
                </a:solidFill>
                <a:latin typeface="Calibri"/>
              </a:rPr>
              <a:t>What this means for the project</a:t>
            </a:r>
          </a:p>
        </p:txBody>
      </p:sp>
      <p:sp>
        <p:nvSpPr>
          <p:cNvPr id="18" name="TextBox 17"/>
          <p:cNvSpPr txBox="1"/>
          <p:nvPr/>
        </p:nvSpPr>
        <p:spPr>
          <a:xfrm>
            <a:off x="6328083" y="5250344"/>
            <a:ext cx="5701937" cy="1446550"/>
          </a:xfrm>
          <a:prstGeom prst="rect">
            <a:avLst/>
          </a:prstGeom>
          <a:noFill/>
        </p:spPr>
        <p:txBody>
          <a:bodyPr wrap="square">
            <a:spAutoFit/>
          </a:bodyPr>
          <a:lstStyle/>
          <a:p>
            <a:pPr>
              <a:spcAft>
                <a:spcPts val="400"/>
              </a:spcAft>
              <a:defRPr sz="1130">
                <a:solidFill>
                  <a:srgbClr val="222222"/>
                </a:solidFill>
                <a:latin typeface="Calibri"/>
              </a:defRPr>
            </a:pPr>
            <a:r>
              <a:rPr sz="1300" dirty="0"/>
              <a:t>The model uses a combination of health-status, demographic and lifestyle information rather than one variable alone.</a:t>
            </a:r>
          </a:p>
          <a:p>
            <a:pPr>
              <a:spcAft>
                <a:spcPts val="400"/>
              </a:spcAft>
              <a:defRPr sz="1130">
                <a:solidFill>
                  <a:srgbClr val="222222"/>
                </a:solidFill>
                <a:latin typeface="Calibri"/>
              </a:defRPr>
            </a:pPr>
            <a:r>
              <a:rPr sz="1300" dirty="0"/>
              <a:t>The highest-ranked feature is NOT automatically the strongest clinical risk factor.</a:t>
            </a:r>
          </a:p>
          <a:p>
            <a:pPr>
              <a:spcAft>
                <a:spcPts val="400"/>
              </a:spcAft>
              <a:defRPr sz="1130">
                <a:solidFill>
                  <a:srgbClr val="222222"/>
                </a:solidFill>
                <a:latin typeface="Calibri"/>
              </a:defRPr>
            </a:pPr>
            <a:r>
              <a:rPr sz="1300" dirty="0"/>
              <a:t>Global SHAP explains model reliance and supports transparent screening </a:t>
            </a:r>
            <a:r>
              <a:rPr sz="1300" dirty="0" err="1"/>
              <a:t>prioritisation</a:t>
            </a:r>
            <a:r>
              <a:rPr sz="1300" dirty="0"/>
              <a:t>.</a:t>
            </a:r>
          </a:p>
          <a:p>
            <a:pPr>
              <a:spcAft>
                <a:spcPts val="400"/>
              </a:spcAft>
              <a:defRPr sz="1130">
                <a:solidFill>
                  <a:srgbClr val="222222"/>
                </a:solidFill>
                <a:latin typeface="Calibri"/>
              </a:defRPr>
            </a:pPr>
            <a:r>
              <a:rPr sz="1300" dirty="0"/>
              <a:t>Final healthcare decisions remain with qualified professionals.</a:t>
            </a:r>
          </a:p>
        </p:txBody>
      </p:sp>
      <p:pic>
        <p:nvPicPr>
          <p:cNvPr id="22" name="Picture 21" descr="309af2b3-53a1-431a-86a6-7eed5fc34225.png">
            <a:extLst>
              <a:ext uri="{FF2B5EF4-FFF2-40B4-BE49-F238E27FC236}">
                <a16:creationId xmlns:a16="http://schemas.microsoft.com/office/drawing/2014/main" id="{49362273-276E-E996-39A1-0C7B364888CD}"/>
              </a:ext>
            </a:extLst>
          </p:cNvPr>
          <p:cNvPicPr>
            <a:picLocks noChangeAspect="1"/>
          </p:cNvPicPr>
          <p:nvPr/>
        </p:nvPicPr>
        <p:blipFill>
          <a:blip r:embed="rId2"/>
          <a:stretch>
            <a:fillRect/>
          </a:stretch>
        </p:blipFill>
        <p:spPr>
          <a:xfrm>
            <a:off x="327224" y="1865281"/>
            <a:ext cx="7205689" cy="2472726"/>
          </a:xfrm>
          <a:prstGeom prst="rect">
            <a:avLst/>
          </a:prstGeom>
        </p:spPr>
      </p:pic>
    </p:spTree>
    <p:extLst>
      <p:ext uri="{BB962C8B-B14F-4D97-AF65-F5344CB8AC3E}">
        <p14:creationId xmlns:p14="http://schemas.microsoft.com/office/powerpoint/2010/main" val="2495528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FFE330E9-EDE2-AE05-FD77-3711FF4B1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F066A-5EE2-3189-E350-04255C618474}"/>
              </a:ext>
            </a:extLst>
          </p:cNvPr>
          <p:cNvSpPr>
            <a:spLocks noGrp="1"/>
          </p:cNvSpPr>
          <p:nvPr>
            <p:ph type="title"/>
          </p:nvPr>
        </p:nvSpPr>
        <p:spPr>
          <a:xfrm>
            <a:off x="-15240" y="74335"/>
            <a:ext cx="12207240" cy="494881"/>
          </a:xfrm>
        </p:spPr>
        <p:txBody>
          <a:bodyPr wrap="square" anchor="t">
            <a:noAutofit/>
          </a:bodyPr>
          <a:lstStyle/>
          <a:p>
            <a:pPr algn="ctr">
              <a:spcAft>
                <a:spcPts val="400"/>
              </a:spcAft>
              <a:defRPr sz="2200" b="1">
                <a:solidFill>
                  <a:srgbClr val="002060"/>
                </a:solidFill>
                <a:latin typeface="Calibri"/>
              </a:defRPr>
            </a:pPr>
            <a:r>
              <a:rPr sz="2200" b="1" dirty="0">
                <a:solidFill>
                  <a:srgbClr val="002060"/>
                </a:solidFill>
                <a:latin typeface="Calibri"/>
              </a:rPr>
              <a:t>SHAP </a:t>
            </a:r>
            <a:r>
              <a:rPr lang="en-SG" sz="2200" b="1" dirty="0">
                <a:solidFill>
                  <a:srgbClr val="002060"/>
                </a:solidFill>
                <a:latin typeface="Calibri"/>
              </a:rPr>
              <a:t>BEESWARM PLOT</a:t>
            </a:r>
            <a:r>
              <a:rPr sz="2200" b="1" dirty="0">
                <a:solidFill>
                  <a:srgbClr val="002060"/>
                </a:solidFill>
                <a:latin typeface="Calibri"/>
              </a:rPr>
              <a:t> – </a:t>
            </a:r>
            <a:r>
              <a:rPr sz="2200" b="1" dirty="0" err="1">
                <a:solidFill>
                  <a:srgbClr val="002060"/>
                </a:solidFill>
                <a:latin typeface="Calibri"/>
              </a:rPr>
              <a:t>XGBoost</a:t>
            </a:r>
            <a:endParaRPr sz="2200" b="1" dirty="0">
              <a:solidFill>
                <a:srgbClr val="002060"/>
              </a:solidFill>
              <a:latin typeface="Calibri"/>
            </a:endParaRPr>
          </a:p>
        </p:txBody>
      </p:sp>
      <p:sp>
        <p:nvSpPr>
          <p:cNvPr id="3" name="Rectangle 2"/>
          <p:cNvSpPr/>
          <p:nvPr/>
        </p:nvSpPr>
        <p:spPr>
          <a:xfrm>
            <a:off x="164592" y="667512"/>
            <a:ext cx="7726679" cy="3383280"/>
          </a:xfrm>
          <a:prstGeom prst="rect">
            <a:avLst/>
          </a:prstGeom>
          <a:solidFill>
            <a:srgbClr val="FFFFFF"/>
          </a:solidFill>
          <a:ln w="127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92440" y="667511"/>
            <a:ext cx="3794760" cy="2093976"/>
          </a:xfrm>
          <a:prstGeom prst="roundRect">
            <a:avLst/>
          </a:prstGeom>
          <a:solidFill>
            <a:srgbClr val="D9F0F7"/>
          </a:solidFill>
          <a:ln w="1651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0" y="758952"/>
            <a:ext cx="3520440" cy="320040"/>
          </a:xfrm>
          <a:prstGeom prst="rect">
            <a:avLst/>
          </a:prstGeom>
          <a:noFill/>
        </p:spPr>
        <p:txBody>
          <a:bodyPr wrap="square" anchor="t">
            <a:spAutoFit/>
          </a:bodyPr>
          <a:lstStyle/>
          <a:p>
            <a:pPr algn="l"/>
            <a:r>
              <a:rPr sz="1500" b="1" dirty="0">
                <a:solidFill>
                  <a:srgbClr val="002060"/>
                </a:solidFill>
                <a:latin typeface="Calibri"/>
              </a:rPr>
              <a:t>How to read the plot</a:t>
            </a:r>
          </a:p>
        </p:txBody>
      </p:sp>
      <p:sp>
        <p:nvSpPr>
          <p:cNvPr id="7" name="TextBox 6"/>
          <p:cNvSpPr txBox="1"/>
          <p:nvPr/>
        </p:nvSpPr>
        <p:spPr>
          <a:xfrm>
            <a:off x="8229600" y="1078992"/>
            <a:ext cx="3520440" cy="1417320"/>
          </a:xfrm>
          <a:prstGeom prst="rect">
            <a:avLst/>
          </a:prstGeom>
          <a:noFill/>
        </p:spPr>
        <p:txBody>
          <a:bodyPr wrap="square" anchor="t">
            <a:spAutoFit/>
          </a:bodyPr>
          <a:lstStyle/>
          <a:p>
            <a:pPr>
              <a:spcAft>
                <a:spcPts val="400"/>
              </a:spcAft>
              <a:defRPr sz="1140">
                <a:solidFill>
                  <a:srgbClr val="202020"/>
                </a:solidFill>
                <a:latin typeface="Calibri"/>
              </a:defRPr>
            </a:pPr>
            <a:r>
              <a:rPr dirty="0"/>
              <a:t>• Each dot = one observation.</a:t>
            </a:r>
          </a:p>
          <a:p>
            <a:pPr>
              <a:spcAft>
                <a:spcPts val="400"/>
              </a:spcAft>
              <a:defRPr sz="1140">
                <a:solidFill>
                  <a:srgbClr val="202020"/>
                </a:solidFill>
                <a:latin typeface="Calibri"/>
              </a:defRPr>
            </a:pPr>
            <a:r>
              <a:rPr dirty="0"/>
              <a:t>• X-axis = SHAP value (model contribution).</a:t>
            </a:r>
          </a:p>
          <a:p>
            <a:pPr>
              <a:spcAft>
                <a:spcPts val="400"/>
              </a:spcAft>
              <a:defRPr sz="1140">
                <a:solidFill>
                  <a:srgbClr val="202020"/>
                </a:solidFill>
                <a:latin typeface="Calibri"/>
              </a:defRPr>
            </a:pPr>
            <a:r>
              <a:rPr dirty="0"/>
              <a:t>• Right of 0 = pushes prediction toward the positive target class.</a:t>
            </a:r>
          </a:p>
          <a:p>
            <a:pPr>
              <a:spcAft>
                <a:spcPts val="400"/>
              </a:spcAft>
              <a:defRPr sz="1140">
                <a:solidFill>
                  <a:srgbClr val="202020"/>
                </a:solidFill>
                <a:latin typeface="Calibri"/>
              </a:defRPr>
            </a:pPr>
            <a:r>
              <a:rPr dirty="0"/>
              <a:t>• Left of 0 = pushes prediction away from the positive target class.</a:t>
            </a:r>
          </a:p>
          <a:p>
            <a:pPr>
              <a:spcAft>
                <a:spcPts val="400"/>
              </a:spcAft>
              <a:defRPr sz="1140">
                <a:solidFill>
                  <a:srgbClr val="202020"/>
                </a:solidFill>
                <a:latin typeface="Calibri"/>
              </a:defRPr>
            </a:pPr>
            <a:r>
              <a:rPr dirty="0"/>
              <a:t>• Red/Pink = higher feature value; Blue = lower feature value.</a:t>
            </a:r>
          </a:p>
        </p:txBody>
      </p:sp>
      <p:sp>
        <p:nvSpPr>
          <p:cNvPr id="8" name="Rounded Rectangle 7"/>
          <p:cNvSpPr/>
          <p:nvPr/>
        </p:nvSpPr>
        <p:spPr>
          <a:xfrm>
            <a:off x="8092440" y="2834640"/>
            <a:ext cx="3794760" cy="2148839"/>
          </a:xfrm>
          <a:prstGeom prst="roundRect">
            <a:avLst/>
          </a:prstGeom>
          <a:solidFill>
            <a:srgbClr val="F0D8F2"/>
          </a:solidFill>
          <a:ln w="1651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2926080"/>
            <a:ext cx="3520440" cy="320040"/>
          </a:xfrm>
          <a:prstGeom prst="rect">
            <a:avLst/>
          </a:prstGeom>
          <a:noFill/>
        </p:spPr>
        <p:txBody>
          <a:bodyPr wrap="square" anchor="t">
            <a:spAutoFit/>
          </a:bodyPr>
          <a:lstStyle/>
          <a:p>
            <a:pPr algn="l"/>
            <a:r>
              <a:rPr sz="1500" b="1" dirty="0">
                <a:solidFill>
                  <a:srgbClr val="002060"/>
                </a:solidFill>
                <a:latin typeface="Calibri"/>
              </a:rPr>
              <a:t>What the </a:t>
            </a:r>
            <a:r>
              <a:rPr sz="1500" b="1" dirty="0" err="1">
                <a:solidFill>
                  <a:srgbClr val="002060"/>
                </a:solidFill>
                <a:latin typeface="Calibri"/>
              </a:rPr>
              <a:t>colour</a:t>
            </a:r>
            <a:r>
              <a:rPr sz="1500" b="1" dirty="0">
                <a:solidFill>
                  <a:srgbClr val="002060"/>
                </a:solidFill>
                <a:latin typeface="Calibri"/>
              </a:rPr>
              <a:t> and spread tell us</a:t>
            </a:r>
          </a:p>
        </p:txBody>
      </p:sp>
      <p:sp>
        <p:nvSpPr>
          <p:cNvPr id="10" name="TextBox 9"/>
          <p:cNvSpPr txBox="1"/>
          <p:nvPr/>
        </p:nvSpPr>
        <p:spPr>
          <a:xfrm>
            <a:off x="8229600" y="3319272"/>
            <a:ext cx="3520440" cy="1280160"/>
          </a:xfrm>
          <a:prstGeom prst="rect">
            <a:avLst/>
          </a:prstGeom>
          <a:noFill/>
        </p:spPr>
        <p:txBody>
          <a:bodyPr wrap="square" anchor="t">
            <a:spAutoFit/>
          </a:bodyPr>
          <a:lstStyle/>
          <a:p>
            <a:pPr>
              <a:spcAft>
                <a:spcPts val="400"/>
              </a:spcAft>
              <a:defRPr sz="1140">
                <a:solidFill>
                  <a:srgbClr val="202020"/>
                </a:solidFill>
                <a:latin typeface="Calibri"/>
              </a:defRPr>
            </a:pPr>
            <a:r>
              <a:rPr dirty="0"/>
              <a:t>• The </a:t>
            </a:r>
            <a:r>
              <a:rPr dirty="0" err="1"/>
              <a:t>colour</a:t>
            </a:r>
            <a:r>
              <a:rPr dirty="0"/>
              <a:t> distribution shows whether high or low feature values tend to occur on the positive or negative SHAP side.</a:t>
            </a:r>
          </a:p>
          <a:p>
            <a:pPr>
              <a:spcAft>
                <a:spcPts val="400"/>
              </a:spcAft>
              <a:defRPr sz="1140">
                <a:solidFill>
                  <a:srgbClr val="202020"/>
                </a:solidFill>
                <a:latin typeface="Calibri"/>
              </a:defRPr>
            </a:pPr>
            <a:r>
              <a:rPr dirty="0"/>
              <a:t>• Wider horizontal spread = greater variation in a feature's contribution across individuals.</a:t>
            </a:r>
          </a:p>
          <a:p>
            <a:pPr>
              <a:spcAft>
                <a:spcPts val="400"/>
              </a:spcAft>
              <a:defRPr sz="1140">
                <a:solidFill>
                  <a:srgbClr val="202020"/>
                </a:solidFill>
                <a:latin typeface="Calibri"/>
              </a:defRPr>
            </a:pPr>
            <a:r>
              <a:rPr dirty="0"/>
              <a:t>• The same feature can therefore have different effects for different individuals.</a:t>
            </a:r>
          </a:p>
        </p:txBody>
      </p:sp>
      <p:sp>
        <p:nvSpPr>
          <p:cNvPr id="11" name="Rounded Rectangle 10"/>
          <p:cNvSpPr/>
          <p:nvPr/>
        </p:nvSpPr>
        <p:spPr>
          <a:xfrm>
            <a:off x="274320" y="4315968"/>
            <a:ext cx="5669280" cy="1874519"/>
          </a:xfrm>
          <a:prstGeom prst="roundRect">
            <a:avLst/>
          </a:prstGeom>
          <a:solidFill>
            <a:srgbClr val="E2F0D9"/>
          </a:solidFill>
          <a:ln w="1651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79" y="4407407"/>
            <a:ext cx="5394960" cy="320040"/>
          </a:xfrm>
          <a:prstGeom prst="rect">
            <a:avLst/>
          </a:prstGeom>
          <a:noFill/>
        </p:spPr>
        <p:txBody>
          <a:bodyPr wrap="square" anchor="t">
            <a:spAutoFit/>
          </a:bodyPr>
          <a:lstStyle/>
          <a:p>
            <a:pPr algn="l"/>
            <a:r>
              <a:rPr sz="1500" b="1">
                <a:solidFill>
                  <a:srgbClr val="002060"/>
                </a:solidFill>
                <a:latin typeface="Calibri"/>
              </a:rPr>
              <a:t>Key findings from our beeswarm</a:t>
            </a:r>
          </a:p>
        </p:txBody>
      </p:sp>
      <p:sp>
        <p:nvSpPr>
          <p:cNvPr id="13" name="TextBox 12"/>
          <p:cNvSpPr txBox="1"/>
          <p:nvPr/>
        </p:nvSpPr>
        <p:spPr>
          <a:xfrm>
            <a:off x="411479" y="4800600"/>
            <a:ext cx="5394960" cy="1280160"/>
          </a:xfrm>
          <a:prstGeom prst="rect">
            <a:avLst/>
          </a:prstGeom>
          <a:noFill/>
        </p:spPr>
        <p:txBody>
          <a:bodyPr wrap="square" anchor="t">
            <a:spAutoFit/>
          </a:bodyPr>
          <a:lstStyle/>
          <a:p>
            <a:pPr>
              <a:spcAft>
                <a:spcPts val="400"/>
              </a:spcAft>
              <a:defRPr sz="1150">
                <a:solidFill>
                  <a:srgbClr val="202020"/>
                </a:solidFill>
                <a:latin typeface="Calibri"/>
              </a:defRPr>
            </a:pPr>
            <a:r>
              <a:rPr dirty="0"/>
              <a:t>• Stroke, </a:t>
            </a:r>
            <a:r>
              <a:rPr dirty="0" err="1"/>
              <a:t>PhysHlth</a:t>
            </a:r>
            <a:r>
              <a:rPr dirty="0"/>
              <a:t>, BMI and Age have the largest overall effects.</a:t>
            </a:r>
          </a:p>
          <a:p>
            <a:pPr>
              <a:spcAft>
                <a:spcPts val="400"/>
              </a:spcAft>
              <a:defRPr sz="1150">
                <a:solidFill>
                  <a:srgbClr val="202020"/>
                </a:solidFill>
                <a:latin typeface="Calibri"/>
              </a:defRPr>
            </a:pPr>
            <a:r>
              <a:rPr dirty="0"/>
              <a:t>• Higher </a:t>
            </a:r>
            <a:r>
              <a:rPr dirty="0" err="1"/>
              <a:t>PhysHlth</a:t>
            </a:r>
            <a:r>
              <a:rPr dirty="0"/>
              <a:t> values are predominantly on the positive side, while lower values appear more on the negative side.</a:t>
            </a:r>
          </a:p>
          <a:p>
            <a:pPr>
              <a:spcAft>
                <a:spcPts val="400"/>
              </a:spcAft>
              <a:defRPr sz="1150">
                <a:solidFill>
                  <a:srgbClr val="202020"/>
                </a:solidFill>
                <a:latin typeface="Calibri"/>
              </a:defRPr>
            </a:pPr>
            <a:r>
              <a:rPr dirty="0"/>
              <a:t>• Higher BMI and Age values generally appear more toward the positive SHAP side.</a:t>
            </a:r>
          </a:p>
          <a:p>
            <a:pPr>
              <a:spcAft>
                <a:spcPts val="400"/>
              </a:spcAft>
              <a:defRPr sz="1150">
                <a:solidFill>
                  <a:srgbClr val="202020"/>
                </a:solidFill>
                <a:latin typeface="Calibri"/>
              </a:defRPr>
            </a:pPr>
            <a:r>
              <a:rPr dirty="0"/>
              <a:t>• </a:t>
            </a:r>
            <a:r>
              <a:rPr dirty="0" err="1"/>
              <a:t>HighBP</a:t>
            </a:r>
            <a:r>
              <a:rPr dirty="0"/>
              <a:t> and Smoker also show noticeable positive contributions for higher feature values in this model.</a:t>
            </a:r>
          </a:p>
        </p:txBody>
      </p:sp>
      <p:sp>
        <p:nvSpPr>
          <p:cNvPr id="14" name="Rounded Rectangle 13"/>
          <p:cNvSpPr/>
          <p:nvPr/>
        </p:nvSpPr>
        <p:spPr>
          <a:xfrm>
            <a:off x="6144768" y="4892040"/>
            <a:ext cx="5742432" cy="1298448"/>
          </a:xfrm>
          <a:prstGeom prst="roundRect">
            <a:avLst/>
          </a:prstGeom>
          <a:solidFill>
            <a:srgbClr val="D9F0F7"/>
          </a:solidFill>
          <a:ln w="1651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81928" y="4983479"/>
            <a:ext cx="5468112" cy="320040"/>
          </a:xfrm>
          <a:prstGeom prst="rect">
            <a:avLst/>
          </a:prstGeom>
          <a:noFill/>
        </p:spPr>
        <p:txBody>
          <a:bodyPr wrap="square" anchor="t">
            <a:spAutoFit/>
          </a:bodyPr>
          <a:lstStyle/>
          <a:p>
            <a:pPr algn="l"/>
            <a:r>
              <a:rPr sz="1500" b="1">
                <a:solidFill>
                  <a:srgbClr val="002060"/>
                </a:solidFill>
                <a:latin typeface="Calibri"/>
              </a:rPr>
              <a:t>Why this is more informative than the bar chart</a:t>
            </a:r>
          </a:p>
        </p:txBody>
      </p:sp>
      <p:sp>
        <p:nvSpPr>
          <p:cNvPr id="16" name="TextBox 15"/>
          <p:cNvSpPr txBox="1"/>
          <p:nvPr/>
        </p:nvSpPr>
        <p:spPr>
          <a:xfrm>
            <a:off x="6281928" y="5376672"/>
            <a:ext cx="5468112" cy="704087"/>
          </a:xfrm>
          <a:prstGeom prst="rect">
            <a:avLst/>
          </a:prstGeom>
          <a:noFill/>
        </p:spPr>
        <p:txBody>
          <a:bodyPr wrap="square" anchor="t">
            <a:spAutoFit/>
          </a:bodyPr>
          <a:lstStyle/>
          <a:p>
            <a:pPr>
              <a:spcAft>
                <a:spcPts val="400"/>
              </a:spcAft>
              <a:defRPr sz="1140">
                <a:solidFill>
                  <a:srgbClr val="202020"/>
                </a:solidFill>
                <a:latin typeface="Calibri"/>
              </a:defRPr>
            </a:pPr>
            <a:r>
              <a:rPr dirty="0"/>
              <a:t>Global SHAP answers: “What matters most overall?”  |  </a:t>
            </a:r>
            <a:r>
              <a:rPr dirty="0" err="1"/>
              <a:t>Beeswarm</a:t>
            </a:r>
            <a:r>
              <a:rPr dirty="0"/>
              <a:t> answers: “How do feature values affect individual predictions, and how much does the effect vary?”</a:t>
            </a:r>
          </a:p>
          <a:p>
            <a:pPr>
              <a:spcAft>
                <a:spcPts val="400"/>
              </a:spcAft>
              <a:defRPr sz="1140">
                <a:solidFill>
                  <a:srgbClr val="202020"/>
                </a:solidFill>
                <a:latin typeface="Calibri"/>
              </a:defRPr>
            </a:pPr>
            <a:r>
              <a:rPr dirty="0"/>
              <a:t>Important: these are model associations/contributions, not proof of clinical causation.</a:t>
            </a:r>
          </a:p>
        </p:txBody>
      </p:sp>
      <p:pic>
        <p:nvPicPr>
          <p:cNvPr id="17" name="Picture 16" descr="beeswarm_chart_cropped.png"/>
          <p:cNvPicPr>
            <a:picLocks noChangeAspect="1"/>
          </p:cNvPicPr>
          <p:nvPr/>
        </p:nvPicPr>
        <p:blipFill>
          <a:blip r:embed="rId2"/>
          <a:stretch>
            <a:fillRect/>
          </a:stretch>
        </p:blipFill>
        <p:spPr>
          <a:xfrm>
            <a:off x="246888" y="704959"/>
            <a:ext cx="7644383" cy="3328416"/>
          </a:xfrm>
          <a:prstGeom prst="rect">
            <a:avLst/>
          </a:prstGeom>
        </p:spPr>
      </p:pic>
      <p:sp>
        <p:nvSpPr>
          <p:cNvPr id="18" name="Rounded Rectangle 17"/>
          <p:cNvSpPr/>
          <p:nvPr/>
        </p:nvSpPr>
        <p:spPr>
          <a:xfrm>
            <a:off x="320040" y="5852160"/>
            <a:ext cx="11247120" cy="457200"/>
          </a:xfrm>
          <a:prstGeom prst="roundRect">
            <a:avLst/>
          </a:prstGeom>
          <a:solidFill>
            <a:srgbClr val="E2F0D9"/>
          </a:solidFill>
          <a:ln>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110" b="1">
                <a:solidFill>
                  <a:srgbClr val="002060"/>
                </a:solidFill>
                <a:latin typeface="Calibri"/>
              </a:rPr>
              <a:t>Feature value → SHAP direction: right of 0 = toward Prediabetes/Diabetes; left of 0 = away. Global SHAP = importance; Beeswarm = direction + variation.</a:t>
            </a:r>
          </a:p>
        </p:txBody>
      </p:sp>
    </p:spTree>
    <p:extLst>
      <p:ext uri="{BB962C8B-B14F-4D97-AF65-F5344CB8AC3E}">
        <p14:creationId xmlns:p14="http://schemas.microsoft.com/office/powerpoint/2010/main" val="1108016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F5F7449A-05F4-CC39-806C-846E7F113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8FE59-5FDE-6F32-17C9-E4526071F545}"/>
              </a:ext>
            </a:extLst>
          </p:cNvPr>
          <p:cNvSpPr>
            <a:spLocks noGrp="1"/>
          </p:cNvSpPr>
          <p:nvPr>
            <p:ph type="title"/>
          </p:nvPr>
        </p:nvSpPr>
        <p:spPr>
          <a:xfrm>
            <a:off x="-15240" y="74335"/>
            <a:ext cx="12207240" cy="494881"/>
          </a:xfrm>
        </p:spPr>
        <p:txBody>
          <a:bodyPr wrap="square" anchor="t">
            <a:noAutofit/>
          </a:bodyPr>
          <a:lstStyle/>
          <a:p>
            <a:pPr algn="ctr"/>
            <a:r>
              <a:rPr sz="2200" b="1" dirty="0">
                <a:solidFill>
                  <a:srgbClr val="002060"/>
                </a:solidFill>
                <a:latin typeface="Calibri"/>
              </a:rPr>
              <a:t>SHAP </a:t>
            </a:r>
            <a:r>
              <a:rPr lang="en-SG" sz="2200" b="1" dirty="0">
                <a:solidFill>
                  <a:srgbClr val="002060"/>
                </a:solidFill>
                <a:latin typeface="Calibri"/>
              </a:rPr>
              <a:t>WATERFALL:</a:t>
            </a:r>
            <a:r>
              <a:rPr sz="2200" b="1" dirty="0">
                <a:solidFill>
                  <a:srgbClr val="002060"/>
                </a:solidFill>
                <a:latin typeface="Calibri"/>
              </a:rPr>
              <a:t> High-Risk Prediabetes/Diabetes Prediction</a:t>
            </a:r>
          </a:p>
        </p:txBody>
      </p:sp>
      <p:sp>
        <p:nvSpPr>
          <p:cNvPr id="22" name="TextBox 21">
            <a:extLst>
              <a:ext uri="{FF2B5EF4-FFF2-40B4-BE49-F238E27FC236}">
                <a16:creationId xmlns:a16="http://schemas.microsoft.com/office/drawing/2014/main" id="{47E8EBCF-71C4-D67A-C7AD-0008152C5B51}"/>
              </a:ext>
            </a:extLst>
          </p:cNvPr>
          <p:cNvSpPr txBox="1"/>
          <p:nvPr/>
        </p:nvSpPr>
        <p:spPr>
          <a:xfrm>
            <a:off x="93864" y="6069154"/>
            <a:ext cx="11964786" cy="584775"/>
          </a:xfrm>
          <a:prstGeom prst="rect">
            <a:avLst/>
          </a:prstGeom>
          <a:noFill/>
          <a:ln w="12700">
            <a:solidFill>
              <a:srgbClr val="002060"/>
            </a:solidFill>
          </a:ln>
        </p:spPr>
        <p:txBody>
          <a:bodyPr wrap="square" rtlCol="0" anchor="t">
            <a:spAutoFit/>
          </a:bodyPr>
          <a:lstStyle/>
          <a:p>
            <a:pPr algn="l"/>
            <a:r>
              <a:rPr sz="1500" b="1">
                <a:solidFill>
                  <a:srgbClr val="7030A0"/>
                </a:solidFill>
                <a:latin typeface="Calibri"/>
              </a:rPr>
              <a:t>The high-risk prediction was primarily driven by PhysHlth, HighBP, BMI and Age. Although several features pushed the prediction downward, the positive contributions resulted in a final predicted probability of 95.04% for the positive prediabetes/diabetes target class.</a:t>
            </a:r>
          </a:p>
        </p:txBody>
      </p:sp>
      <p:sp>
        <p:nvSpPr>
          <p:cNvPr id="3" name="Rectangle: Rounded Corners 2">
            <a:extLst>
              <a:ext uri="{FF2B5EF4-FFF2-40B4-BE49-F238E27FC236}">
                <a16:creationId xmlns:a16="http://schemas.microsoft.com/office/drawing/2014/main" id="{60D3E073-FE1F-1110-D9BE-F1E24AE11996}"/>
              </a:ext>
            </a:extLst>
          </p:cNvPr>
          <p:cNvSpPr/>
          <p:nvPr/>
        </p:nvSpPr>
        <p:spPr>
          <a:xfrm>
            <a:off x="137160" y="650608"/>
            <a:ext cx="2217420" cy="617220"/>
          </a:xfrm>
          <a:prstGeom prst="roundRect">
            <a:avLst/>
          </a:prstGeom>
          <a:solidFill>
            <a:srgbClr val="A1E2F9"/>
          </a:solidFill>
          <a:ln w="19050">
            <a:solidFill>
              <a:srgbClr val="D777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000" b="1" dirty="0">
                <a:solidFill>
                  <a:srgbClr val="002060"/>
                </a:solidFill>
                <a:latin typeface="Calibri" panose="020F0502020204030204" pitchFamily="34" charset="0"/>
                <a:ea typeface="Calibri" panose="020F0502020204030204" pitchFamily="34" charset="0"/>
                <a:cs typeface="Calibri" panose="020F0502020204030204" pitchFamily="34" charset="0"/>
              </a:rPr>
              <a:t>Patient Index: </a:t>
            </a:r>
          </a:p>
          <a:p>
            <a:pPr algn="ctr"/>
            <a:r>
              <a:rPr lang="en-SG" sz="2000" b="1" dirty="0">
                <a:solidFill>
                  <a:srgbClr val="7030A0"/>
                </a:solidFill>
                <a:latin typeface="Calibri" panose="020F0502020204030204" pitchFamily="34" charset="0"/>
                <a:ea typeface="Calibri" panose="020F0502020204030204" pitchFamily="34" charset="0"/>
                <a:cs typeface="Calibri" panose="020F0502020204030204" pitchFamily="34" charset="0"/>
              </a:rPr>
              <a:t>4519</a:t>
            </a:r>
          </a:p>
        </p:txBody>
      </p:sp>
      <p:sp>
        <p:nvSpPr>
          <p:cNvPr id="9" name="Rectangle: Rounded Corners 8">
            <a:extLst>
              <a:ext uri="{FF2B5EF4-FFF2-40B4-BE49-F238E27FC236}">
                <a16:creationId xmlns:a16="http://schemas.microsoft.com/office/drawing/2014/main" id="{A11B308A-E1C2-0A27-8144-982308EEC162}"/>
              </a:ext>
            </a:extLst>
          </p:cNvPr>
          <p:cNvSpPr/>
          <p:nvPr/>
        </p:nvSpPr>
        <p:spPr>
          <a:xfrm>
            <a:off x="2468267" y="648073"/>
            <a:ext cx="3271294" cy="617220"/>
          </a:xfrm>
          <a:prstGeom prst="roundRect">
            <a:avLst/>
          </a:prstGeom>
          <a:solidFill>
            <a:srgbClr val="A1E2F9"/>
          </a:solidFill>
          <a:ln w="19050">
            <a:solidFill>
              <a:srgbClr val="D777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000" b="1" dirty="0">
                <a:solidFill>
                  <a:srgbClr val="002060"/>
                </a:solidFill>
                <a:latin typeface="Calibri" panose="020F0502020204030204" pitchFamily="34" charset="0"/>
                <a:ea typeface="Calibri" panose="020F0502020204030204" pitchFamily="34" charset="0"/>
                <a:cs typeface="Calibri" panose="020F0502020204030204" pitchFamily="34" charset="0"/>
              </a:rPr>
              <a:t>Actual Target Class</a:t>
            </a:r>
          </a:p>
          <a:p>
            <a:pPr algn="ctr"/>
            <a:r>
              <a:rPr lang="en-SG" sz="2000" b="1" dirty="0">
                <a:solidFill>
                  <a:srgbClr val="7030A0"/>
                </a:solidFill>
                <a:latin typeface="Calibri" panose="020F0502020204030204" pitchFamily="34" charset="0"/>
                <a:ea typeface="Calibri" panose="020F0502020204030204" pitchFamily="34" charset="0"/>
                <a:cs typeface="Calibri" panose="020F0502020204030204" pitchFamily="34" charset="0"/>
              </a:rPr>
              <a:t>1- Prediabetes or Diabetes</a:t>
            </a:r>
          </a:p>
        </p:txBody>
      </p:sp>
      <p:sp>
        <p:nvSpPr>
          <p:cNvPr id="11" name="Rectangle: Rounded Corners 10">
            <a:extLst>
              <a:ext uri="{FF2B5EF4-FFF2-40B4-BE49-F238E27FC236}">
                <a16:creationId xmlns:a16="http://schemas.microsoft.com/office/drawing/2014/main" id="{5F37A1FC-9880-F256-72A0-070D6F4BB7B0}"/>
              </a:ext>
            </a:extLst>
          </p:cNvPr>
          <p:cNvSpPr/>
          <p:nvPr/>
        </p:nvSpPr>
        <p:spPr>
          <a:xfrm>
            <a:off x="5862093" y="637127"/>
            <a:ext cx="2625090" cy="617220"/>
          </a:xfrm>
          <a:prstGeom prst="roundRect">
            <a:avLst/>
          </a:prstGeom>
          <a:solidFill>
            <a:srgbClr val="A1E2F9"/>
          </a:solidFill>
          <a:ln w="19050">
            <a:solidFill>
              <a:srgbClr val="D777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000" b="1" dirty="0">
                <a:solidFill>
                  <a:srgbClr val="002060"/>
                </a:solidFill>
                <a:latin typeface="Calibri" panose="020F0502020204030204" pitchFamily="34" charset="0"/>
                <a:ea typeface="Calibri" panose="020F0502020204030204" pitchFamily="34" charset="0"/>
                <a:cs typeface="Calibri" panose="020F0502020204030204" pitchFamily="34" charset="0"/>
              </a:rPr>
              <a:t>Predicted Probability:</a:t>
            </a:r>
          </a:p>
          <a:p>
            <a:pPr algn="ctr"/>
            <a:r>
              <a:rPr lang="en-SG" sz="2000" b="1" dirty="0">
                <a:solidFill>
                  <a:srgbClr val="7030A0"/>
                </a:solidFill>
                <a:latin typeface="Calibri" panose="020F0502020204030204" pitchFamily="34" charset="0"/>
                <a:ea typeface="Calibri" panose="020F0502020204030204" pitchFamily="34" charset="0"/>
                <a:cs typeface="Calibri" panose="020F0502020204030204" pitchFamily="34" charset="0"/>
              </a:rPr>
              <a:t>95.04%</a:t>
            </a:r>
          </a:p>
        </p:txBody>
      </p:sp>
      <p:sp>
        <p:nvSpPr>
          <p:cNvPr id="15" name="Rectangle: Rounded Corners 14">
            <a:extLst>
              <a:ext uri="{FF2B5EF4-FFF2-40B4-BE49-F238E27FC236}">
                <a16:creationId xmlns:a16="http://schemas.microsoft.com/office/drawing/2014/main" id="{AF557582-67EF-2BCE-7382-77AD157EF466}"/>
              </a:ext>
            </a:extLst>
          </p:cNvPr>
          <p:cNvSpPr/>
          <p:nvPr/>
        </p:nvSpPr>
        <p:spPr>
          <a:xfrm>
            <a:off x="8732248" y="604529"/>
            <a:ext cx="3365888" cy="682417"/>
          </a:xfrm>
          <a:prstGeom prst="roundRect">
            <a:avLst/>
          </a:prstGeom>
          <a:solidFill>
            <a:srgbClr val="A1E2F9"/>
          </a:solidFill>
          <a:ln w="19050">
            <a:solidFill>
              <a:srgbClr val="D777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2000" b="1" dirty="0">
                <a:solidFill>
                  <a:srgbClr val="002060"/>
                </a:solidFill>
                <a:latin typeface="Calibri" panose="020F0502020204030204" pitchFamily="34" charset="0"/>
                <a:ea typeface="Calibri" panose="020F0502020204030204" pitchFamily="34" charset="0"/>
                <a:cs typeface="Calibri" panose="020F0502020204030204" pitchFamily="34" charset="0"/>
              </a:rPr>
              <a:t>Predicted Class:</a:t>
            </a:r>
          </a:p>
          <a:p>
            <a:pPr algn="ctr"/>
            <a:r>
              <a:rPr lang="en-SG" sz="2000" b="1" dirty="0">
                <a:solidFill>
                  <a:srgbClr val="7030A0"/>
                </a:solidFill>
                <a:latin typeface="Calibri" panose="020F0502020204030204" pitchFamily="34" charset="0"/>
                <a:ea typeface="Calibri" panose="020F0502020204030204" pitchFamily="34" charset="0"/>
                <a:cs typeface="Calibri" panose="020F0502020204030204" pitchFamily="34" charset="0"/>
              </a:rPr>
              <a:t>1- Prediabetes or Diabetes</a:t>
            </a:r>
          </a:p>
        </p:txBody>
      </p:sp>
      <p:pic>
        <p:nvPicPr>
          <p:cNvPr id="18" name="Picture 17">
            <a:extLst>
              <a:ext uri="{FF2B5EF4-FFF2-40B4-BE49-F238E27FC236}">
                <a16:creationId xmlns:a16="http://schemas.microsoft.com/office/drawing/2014/main" id="{23E03506-7167-821F-ECA3-232044B370D6}"/>
              </a:ext>
            </a:extLst>
          </p:cNvPr>
          <p:cNvPicPr>
            <a:picLocks noChangeAspect="1"/>
          </p:cNvPicPr>
          <p:nvPr/>
        </p:nvPicPr>
        <p:blipFill>
          <a:blip r:embed="rId2"/>
          <a:stretch>
            <a:fillRect/>
          </a:stretch>
        </p:blipFill>
        <p:spPr>
          <a:xfrm>
            <a:off x="93864" y="1387376"/>
            <a:ext cx="6339593" cy="2825396"/>
          </a:xfrm>
          <a:prstGeom prst="rect">
            <a:avLst/>
          </a:prstGeom>
        </p:spPr>
      </p:pic>
      <p:pic>
        <p:nvPicPr>
          <p:cNvPr id="25" name="Picture 24">
            <a:extLst>
              <a:ext uri="{FF2B5EF4-FFF2-40B4-BE49-F238E27FC236}">
                <a16:creationId xmlns:a16="http://schemas.microsoft.com/office/drawing/2014/main" id="{0A43E59F-BE40-03BC-F86E-30D805745C7A}"/>
              </a:ext>
            </a:extLst>
          </p:cNvPr>
          <p:cNvPicPr>
            <a:picLocks noChangeAspect="1"/>
          </p:cNvPicPr>
          <p:nvPr/>
        </p:nvPicPr>
        <p:blipFill>
          <a:blip r:embed="rId3"/>
          <a:stretch>
            <a:fillRect/>
          </a:stretch>
        </p:blipFill>
        <p:spPr>
          <a:xfrm>
            <a:off x="93864" y="4332320"/>
            <a:ext cx="3248050" cy="1616420"/>
          </a:xfrm>
          <a:prstGeom prst="rect">
            <a:avLst/>
          </a:prstGeom>
        </p:spPr>
      </p:pic>
      <p:pic>
        <p:nvPicPr>
          <p:cNvPr id="29" name="Picture 28">
            <a:extLst>
              <a:ext uri="{FF2B5EF4-FFF2-40B4-BE49-F238E27FC236}">
                <a16:creationId xmlns:a16="http://schemas.microsoft.com/office/drawing/2014/main" id="{F5C1A2ED-45E5-F399-4CE4-65A74CDC4E95}"/>
              </a:ext>
            </a:extLst>
          </p:cNvPr>
          <p:cNvPicPr>
            <a:picLocks noChangeAspect="1"/>
          </p:cNvPicPr>
          <p:nvPr/>
        </p:nvPicPr>
        <p:blipFill>
          <a:blip r:embed="rId4"/>
          <a:stretch>
            <a:fillRect/>
          </a:stretch>
        </p:blipFill>
        <p:spPr>
          <a:xfrm>
            <a:off x="3372498" y="4300587"/>
            <a:ext cx="3060959" cy="1616420"/>
          </a:xfrm>
          <a:prstGeom prst="rect">
            <a:avLst/>
          </a:prstGeom>
        </p:spPr>
      </p:pic>
      <p:pic>
        <p:nvPicPr>
          <p:cNvPr id="5" name="Picture 4">
            <a:extLst>
              <a:ext uri="{FF2B5EF4-FFF2-40B4-BE49-F238E27FC236}">
                <a16:creationId xmlns:a16="http://schemas.microsoft.com/office/drawing/2014/main" id="{FA45A1A1-D5AD-0EB0-5D4B-65E26829E5F4}"/>
              </a:ext>
            </a:extLst>
          </p:cNvPr>
          <p:cNvPicPr>
            <a:picLocks noChangeAspect="1"/>
          </p:cNvPicPr>
          <p:nvPr/>
        </p:nvPicPr>
        <p:blipFill>
          <a:blip r:embed="rId5"/>
          <a:stretch>
            <a:fillRect/>
          </a:stretch>
        </p:blipFill>
        <p:spPr>
          <a:xfrm>
            <a:off x="6684604" y="1449013"/>
            <a:ext cx="5289681" cy="4467993"/>
          </a:xfrm>
          <a:prstGeom prst="rect">
            <a:avLst/>
          </a:prstGeom>
        </p:spPr>
      </p:pic>
    </p:spTree>
    <p:extLst>
      <p:ext uri="{BB962C8B-B14F-4D97-AF65-F5344CB8AC3E}">
        <p14:creationId xmlns:p14="http://schemas.microsoft.com/office/powerpoint/2010/main" val="445997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7F295906-4859-CB85-8DD0-9295418B2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1E34C-1081-49C7-A56C-B9F86E6BD4BE}"/>
              </a:ext>
            </a:extLst>
          </p:cNvPr>
          <p:cNvSpPr>
            <a:spLocks noGrp="1"/>
          </p:cNvSpPr>
          <p:nvPr>
            <p:ph type="title"/>
          </p:nvPr>
        </p:nvSpPr>
        <p:spPr>
          <a:xfrm>
            <a:off x="-15240" y="74335"/>
            <a:ext cx="12207240" cy="494881"/>
          </a:xfrm>
        </p:spPr>
        <p:txBody>
          <a:bodyPr wrap="square" anchor="t">
            <a:noAutofit/>
          </a:bodyPr>
          <a:lstStyle/>
          <a:p>
            <a:pPr algn="ctr"/>
            <a:r>
              <a:rPr sz="2200" b="1" dirty="0">
                <a:solidFill>
                  <a:srgbClr val="002060"/>
                </a:solidFill>
                <a:latin typeface="Calibri"/>
              </a:rPr>
              <a:t>PRACTICAL USE CASE – FROM PREDICTION TO ACTION</a:t>
            </a:r>
          </a:p>
        </p:txBody>
      </p:sp>
      <p:sp>
        <p:nvSpPr>
          <p:cNvPr id="3" name="TextBox 2"/>
          <p:cNvSpPr txBox="1"/>
          <p:nvPr/>
        </p:nvSpPr>
        <p:spPr>
          <a:xfrm>
            <a:off x="228600" y="621792"/>
            <a:ext cx="11704320" cy="411480"/>
          </a:xfrm>
          <a:prstGeom prst="rect">
            <a:avLst/>
          </a:prstGeom>
          <a:noFill/>
        </p:spPr>
        <p:txBody>
          <a:bodyPr wrap="square" anchor="t">
            <a:spAutoFit/>
          </a:bodyPr>
          <a:lstStyle/>
          <a:p>
            <a:pPr algn="ctr"/>
            <a:r>
              <a:rPr sz="1500" b="1">
                <a:solidFill>
                  <a:srgbClr val="7030A0"/>
                </a:solidFill>
                <a:latin typeface="Calibri"/>
              </a:rPr>
              <a:t>Using XGBoost prediction and SHAP explanation to support preventive screening prioritisation</a:t>
            </a:r>
          </a:p>
        </p:txBody>
      </p:sp>
      <p:sp>
        <p:nvSpPr>
          <p:cNvPr id="4" name="Rounded Rectangle 3"/>
          <p:cNvSpPr/>
          <p:nvPr/>
        </p:nvSpPr>
        <p:spPr>
          <a:xfrm>
            <a:off x="228600" y="1143000"/>
            <a:ext cx="3703320" cy="3337560"/>
          </a:xfrm>
          <a:prstGeom prst="roundRect">
            <a:avLst/>
          </a:prstGeom>
          <a:solidFill>
            <a:srgbClr val="D9F0F7"/>
          </a:solidFill>
          <a:ln w="1905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93192" y="1252728"/>
            <a:ext cx="3374136" cy="411480"/>
          </a:xfrm>
          <a:prstGeom prst="rect">
            <a:avLst/>
          </a:prstGeom>
          <a:noFill/>
        </p:spPr>
        <p:txBody>
          <a:bodyPr wrap="square" anchor="t">
            <a:spAutoFit/>
          </a:bodyPr>
          <a:lstStyle/>
          <a:p>
            <a:pPr algn="l"/>
            <a:r>
              <a:rPr sz="1700" b="1">
                <a:solidFill>
                  <a:srgbClr val="002060"/>
                </a:solidFill>
                <a:latin typeface="Calibri"/>
              </a:rPr>
              <a:t>1. SCENARIO</a:t>
            </a:r>
          </a:p>
        </p:txBody>
      </p:sp>
      <p:sp>
        <p:nvSpPr>
          <p:cNvPr id="6" name="TextBox 5"/>
          <p:cNvSpPr txBox="1"/>
          <p:nvPr/>
        </p:nvSpPr>
        <p:spPr>
          <a:xfrm>
            <a:off x="393192" y="1709928"/>
            <a:ext cx="3374136" cy="1938992"/>
          </a:xfrm>
          <a:prstGeom prst="rect">
            <a:avLst/>
          </a:prstGeom>
          <a:noFill/>
        </p:spPr>
        <p:txBody>
          <a:bodyPr wrap="square" anchor="t">
            <a:spAutoFit/>
          </a:bodyPr>
          <a:lstStyle/>
          <a:p>
            <a:pPr>
              <a:spcAft>
                <a:spcPts val="600"/>
              </a:spcAft>
              <a:defRPr sz="1350">
                <a:solidFill>
                  <a:srgbClr val="202020"/>
                </a:solidFill>
                <a:latin typeface="Calibri"/>
              </a:defRPr>
            </a:pPr>
            <a:r>
              <a:rPr sz="1500" dirty="0"/>
              <a:t>A population healthcare </a:t>
            </a:r>
            <a:r>
              <a:rPr sz="1500" dirty="0" err="1"/>
              <a:t>programme</a:t>
            </a:r>
            <a:r>
              <a:rPr sz="1500" dirty="0"/>
              <a:t> needs to identify individuals who may benefit from further screening or preventive assessment.</a:t>
            </a:r>
          </a:p>
          <a:p>
            <a:pPr>
              <a:spcAft>
                <a:spcPts val="600"/>
              </a:spcAft>
              <a:defRPr sz="1350">
                <a:solidFill>
                  <a:srgbClr val="202020"/>
                </a:solidFill>
                <a:latin typeface="Calibri"/>
              </a:defRPr>
            </a:pPr>
            <a:endParaRPr sz="1500" dirty="0"/>
          </a:p>
          <a:p>
            <a:pPr>
              <a:spcAft>
                <a:spcPts val="600"/>
              </a:spcAft>
              <a:defRPr sz="1350">
                <a:solidFill>
                  <a:srgbClr val="202020"/>
                </a:solidFill>
                <a:latin typeface="Calibri"/>
              </a:defRPr>
            </a:pPr>
            <a:r>
              <a:rPr sz="1500" dirty="0"/>
              <a:t>Selected individual: Test index 4519</a:t>
            </a:r>
          </a:p>
          <a:p>
            <a:pPr>
              <a:spcAft>
                <a:spcPts val="600"/>
              </a:spcAft>
              <a:defRPr sz="1350">
                <a:solidFill>
                  <a:srgbClr val="202020"/>
                </a:solidFill>
                <a:latin typeface="Calibri"/>
              </a:defRPr>
            </a:pPr>
            <a:r>
              <a:rPr sz="1500" dirty="0"/>
              <a:t>Target class: 1 – Prediabetes or diabetes</a:t>
            </a:r>
          </a:p>
        </p:txBody>
      </p:sp>
      <p:sp>
        <p:nvSpPr>
          <p:cNvPr id="7" name="Rounded Rectangle 6"/>
          <p:cNvSpPr/>
          <p:nvPr/>
        </p:nvSpPr>
        <p:spPr>
          <a:xfrm>
            <a:off x="4133087" y="1143000"/>
            <a:ext cx="3703320" cy="3337560"/>
          </a:xfrm>
          <a:prstGeom prst="roundRect">
            <a:avLst/>
          </a:prstGeom>
          <a:solidFill>
            <a:srgbClr val="F0D8F2"/>
          </a:solidFill>
          <a:ln w="1905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79" y="1252728"/>
            <a:ext cx="3374136" cy="411480"/>
          </a:xfrm>
          <a:prstGeom prst="rect">
            <a:avLst/>
          </a:prstGeom>
          <a:noFill/>
        </p:spPr>
        <p:txBody>
          <a:bodyPr wrap="square" anchor="t">
            <a:spAutoFit/>
          </a:bodyPr>
          <a:lstStyle/>
          <a:p>
            <a:pPr algn="l"/>
            <a:r>
              <a:rPr sz="1700" b="1">
                <a:solidFill>
                  <a:srgbClr val="002060"/>
                </a:solidFill>
                <a:latin typeface="Calibri"/>
              </a:rPr>
              <a:t>2. MODEL SIGNAL</a:t>
            </a:r>
          </a:p>
        </p:txBody>
      </p:sp>
      <p:sp>
        <p:nvSpPr>
          <p:cNvPr id="9" name="TextBox 8"/>
          <p:cNvSpPr txBox="1"/>
          <p:nvPr/>
        </p:nvSpPr>
        <p:spPr>
          <a:xfrm>
            <a:off x="4297679" y="1709928"/>
            <a:ext cx="3374136" cy="2246769"/>
          </a:xfrm>
          <a:prstGeom prst="rect">
            <a:avLst/>
          </a:prstGeom>
          <a:noFill/>
        </p:spPr>
        <p:txBody>
          <a:bodyPr wrap="square" anchor="t">
            <a:spAutoFit/>
          </a:bodyPr>
          <a:lstStyle/>
          <a:p>
            <a:pPr>
              <a:spcAft>
                <a:spcPts val="600"/>
              </a:spcAft>
              <a:defRPr sz="1350">
                <a:solidFill>
                  <a:srgbClr val="202020"/>
                </a:solidFill>
                <a:latin typeface="Calibri"/>
              </a:defRPr>
            </a:pPr>
            <a:r>
              <a:rPr sz="1500" dirty="0" err="1"/>
              <a:t>XGBoost</a:t>
            </a:r>
            <a:r>
              <a:rPr sz="1500" dirty="0"/>
              <a:t> predicted a 95.04% probability of belonging to the positive target class.</a:t>
            </a:r>
          </a:p>
          <a:p>
            <a:pPr>
              <a:spcAft>
                <a:spcPts val="600"/>
              </a:spcAft>
              <a:defRPr sz="1350">
                <a:solidFill>
                  <a:srgbClr val="202020"/>
                </a:solidFill>
                <a:latin typeface="Calibri"/>
              </a:defRPr>
            </a:pPr>
            <a:endParaRPr sz="1500" dirty="0"/>
          </a:p>
          <a:p>
            <a:pPr>
              <a:spcAft>
                <a:spcPts val="600"/>
              </a:spcAft>
              <a:defRPr sz="1350">
                <a:solidFill>
                  <a:srgbClr val="202020"/>
                </a:solidFill>
                <a:latin typeface="Calibri"/>
              </a:defRPr>
            </a:pPr>
            <a:r>
              <a:rPr sz="1500" dirty="0"/>
              <a:t>SHAP provides an individual-level explanation of the prediction.</a:t>
            </a:r>
          </a:p>
          <a:p>
            <a:pPr>
              <a:spcAft>
                <a:spcPts val="600"/>
              </a:spcAft>
              <a:defRPr sz="1350">
                <a:solidFill>
                  <a:srgbClr val="202020"/>
                </a:solidFill>
                <a:latin typeface="Calibri"/>
              </a:defRPr>
            </a:pPr>
            <a:endParaRPr sz="1500" dirty="0"/>
          </a:p>
          <a:p>
            <a:pPr>
              <a:spcAft>
                <a:spcPts val="600"/>
              </a:spcAft>
              <a:defRPr sz="1350">
                <a:solidFill>
                  <a:srgbClr val="202020"/>
                </a:solidFill>
                <a:latin typeface="Calibri"/>
              </a:defRPr>
            </a:pPr>
            <a:r>
              <a:rPr sz="1500" dirty="0"/>
              <a:t>Major contributors include </a:t>
            </a:r>
            <a:r>
              <a:rPr sz="1500" dirty="0" err="1"/>
              <a:t>PhysHlth</a:t>
            </a:r>
            <a:r>
              <a:rPr sz="1500" dirty="0"/>
              <a:t>, </a:t>
            </a:r>
            <a:r>
              <a:rPr sz="1500" dirty="0" err="1"/>
              <a:t>HighBP</a:t>
            </a:r>
            <a:r>
              <a:rPr sz="1500" dirty="0"/>
              <a:t>, BMI and Age.</a:t>
            </a:r>
          </a:p>
        </p:txBody>
      </p:sp>
      <p:sp>
        <p:nvSpPr>
          <p:cNvPr id="10" name="Rounded Rectangle 9"/>
          <p:cNvSpPr/>
          <p:nvPr/>
        </p:nvSpPr>
        <p:spPr>
          <a:xfrm>
            <a:off x="8037575" y="1143000"/>
            <a:ext cx="3703320" cy="3337560"/>
          </a:xfrm>
          <a:prstGeom prst="roundRect">
            <a:avLst/>
          </a:prstGeom>
          <a:solidFill>
            <a:srgbClr val="E2F0D9"/>
          </a:solidFill>
          <a:ln w="19050">
            <a:solidFill>
              <a:srgbClr val="9FD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02167" y="1252728"/>
            <a:ext cx="3374136" cy="411480"/>
          </a:xfrm>
          <a:prstGeom prst="rect">
            <a:avLst/>
          </a:prstGeom>
          <a:noFill/>
        </p:spPr>
        <p:txBody>
          <a:bodyPr wrap="square" anchor="t">
            <a:spAutoFit/>
          </a:bodyPr>
          <a:lstStyle/>
          <a:p>
            <a:pPr algn="l"/>
            <a:r>
              <a:rPr sz="1700" b="1">
                <a:solidFill>
                  <a:srgbClr val="002060"/>
                </a:solidFill>
                <a:latin typeface="Calibri"/>
              </a:rPr>
              <a:t>3. POTENTIAL ACTION</a:t>
            </a:r>
          </a:p>
        </p:txBody>
      </p:sp>
      <p:sp>
        <p:nvSpPr>
          <p:cNvPr id="12" name="TextBox 11"/>
          <p:cNvSpPr txBox="1"/>
          <p:nvPr/>
        </p:nvSpPr>
        <p:spPr>
          <a:xfrm>
            <a:off x="8202167" y="1709928"/>
            <a:ext cx="3374136" cy="2708434"/>
          </a:xfrm>
          <a:prstGeom prst="rect">
            <a:avLst/>
          </a:prstGeom>
          <a:noFill/>
        </p:spPr>
        <p:txBody>
          <a:bodyPr wrap="square" anchor="t">
            <a:spAutoFit/>
          </a:bodyPr>
          <a:lstStyle/>
          <a:p>
            <a:pPr>
              <a:spcAft>
                <a:spcPts val="600"/>
              </a:spcAft>
              <a:defRPr sz="1350">
                <a:solidFill>
                  <a:srgbClr val="202020"/>
                </a:solidFill>
                <a:latin typeface="Calibri"/>
              </a:defRPr>
            </a:pPr>
            <a:r>
              <a:rPr sz="1500" dirty="0" err="1"/>
              <a:t>Prioritise</a:t>
            </a:r>
            <a:r>
              <a:rPr sz="1500" dirty="0"/>
              <a:t> the individual for further screening or preventive assessment.</a:t>
            </a:r>
          </a:p>
          <a:p>
            <a:pPr>
              <a:spcAft>
                <a:spcPts val="600"/>
              </a:spcAft>
              <a:defRPr sz="1350">
                <a:solidFill>
                  <a:srgbClr val="202020"/>
                </a:solidFill>
                <a:latin typeface="Calibri"/>
              </a:defRPr>
            </a:pPr>
            <a:endParaRPr sz="1500" dirty="0"/>
          </a:p>
          <a:p>
            <a:pPr>
              <a:spcAft>
                <a:spcPts val="600"/>
              </a:spcAft>
              <a:defRPr sz="1350">
                <a:solidFill>
                  <a:srgbClr val="202020"/>
                </a:solidFill>
                <a:latin typeface="Calibri"/>
              </a:defRPr>
            </a:pPr>
            <a:r>
              <a:rPr sz="1500" dirty="0"/>
              <a:t>A healthcare professional reviews the individual's information and determines appropriate follow-up.</a:t>
            </a:r>
          </a:p>
          <a:p>
            <a:pPr>
              <a:spcAft>
                <a:spcPts val="600"/>
              </a:spcAft>
              <a:defRPr sz="1350">
                <a:solidFill>
                  <a:srgbClr val="202020"/>
                </a:solidFill>
                <a:latin typeface="Calibri"/>
              </a:defRPr>
            </a:pPr>
            <a:endParaRPr sz="1500" dirty="0"/>
          </a:p>
          <a:p>
            <a:pPr>
              <a:spcAft>
                <a:spcPts val="600"/>
              </a:spcAft>
              <a:defRPr sz="1350">
                <a:solidFill>
                  <a:srgbClr val="202020"/>
                </a:solidFill>
                <a:latin typeface="Calibri"/>
              </a:defRPr>
            </a:pPr>
            <a:r>
              <a:rPr sz="1500" dirty="0"/>
              <a:t>Where appropriate, preventive support or lifestyle intervention may be considered.</a:t>
            </a:r>
          </a:p>
        </p:txBody>
      </p:sp>
      <p:sp>
        <p:nvSpPr>
          <p:cNvPr id="13" name="TextBox 12"/>
          <p:cNvSpPr txBox="1"/>
          <p:nvPr/>
        </p:nvSpPr>
        <p:spPr>
          <a:xfrm>
            <a:off x="228600" y="4617720"/>
            <a:ext cx="11704320" cy="320040"/>
          </a:xfrm>
          <a:prstGeom prst="rect">
            <a:avLst/>
          </a:prstGeom>
          <a:noFill/>
        </p:spPr>
        <p:txBody>
          <a:bodyPr wrap="square" anchor="t">
            <a:spAutoFit/>
          </a:bodyPr>
          <a:lstStyle/>
          <a:p>
            <a:pPr algn="ctr"/>
            <a:r>
              <a:rPr sz="1500" b="1">
                <a:solidFill>
                  <a:srgbClr val="002060"/>
                </a:solidFill>
                <a:latin typeface="Calibri"/>
              </a:rPr>
              <a:t>PRACTICAL DECISION WORKFLOW</a:t>
            </a:r>
          </a:p>
        </p:txBody>
      </p:sp>
      <p:sp>
        <p:nvSpPr>
          <p:cNvPr id="14" name="Rounded Rectangle 13"/>
          <p:cNvSpPr/>
          <p:nvPr/>
        </p:nvSpPr>
        <p:spPr>
          <a:xfrm>
            <a:off x="320040" y="4983480"/>
            <a:ext cx="1965960" cy="658368"/>
          </a:xfrm>
          <a:prstGeom prst="roundRect">
            <a:avLst/>
          </a:prstGeom>
          <a:solidFill>
            <a:srgbClr val="D9F0F7"/>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50" b="1">
                <a:solidFill>
                  <a:srgbClr val="002060"/>
                </a:solidFill>
                <a:latin typeface="Calibri"/>
              </a:rPr>
              <a:t>Health indicators</a:t>
            </a:r>
          </a:p>
        </p:txBody>
      </p:sp>
      <p:sp>
        <p:nvSpPr>
          <p:cNvPr id="15" name="Chevron 14"/>
          <p:cNvSpPr/>
          <p:nvPr/>
        </p:nvSpPr>
        <p:spPr>
          <a:xfrm>
            <a:off x="2322576" y="5166360"/>
            <a:ext cx="256032" cy="274320"/>
          </a:xfrm>
          <a:prstGeom prst="chevron">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606040" y="4983480"/>
            <a:ext cx="1965960" cy="658368"/>
          </a:xfrm>
          <a:prstGeom prst="roundRect">
            <a:avLst/>
          </a:prstGeom>
          <a:solidFill>
            <a:srgbClr val="9FD8ED"/>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50" b="1">
                <a:solidFill>
                  <a:srgbClr val="002060"/>
                </a:solidFill>
                <a:latin typeface="Calibri"/>
              </a:rPr>
              <a:t>XGBoost prediction
95.04%</a:t>
            </a:r>
          </a:p>
        </p:txBody>
      </p:sp>
      <p:sp>
        <p:nvSpPr>
          <p:cNvPr id="17" name="Chevron 16"/>
          <p:cNvSpPr/>
          <p:nvPr/>
        </p:nvSpPr>
        <p:spPr>
          <a:xfrm>
            <a:off x="4608576" y="5166360"/>
            <a:ext cx="256032" cy="274320"/>
          </a:xfrm>
          <a:prstGeom prst="chevron">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92040" y="4983480"/>
            <a:ext cx="1965960" cy="658368"/>
          </a:xfrm>
          <a:prstGeom prst="roundRect">
            <a:avLst/>
          </a:prstGeom>
          <a:solidFill>
            <a:srgbClr val="F0D8F2"/>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50" b="1" dirty="0">
                <a:solidFill>
                  <a:srgbClr val="002060"/>
                </a:solidFill>
                <a:latin typeface="Calibri"/>
              </a:rPr>
              <a:t>SHAP explanation</a:t>
            </a:r>
          </a:p>
        </p:txBody>
      </p:sp>
      <p:sp>
        <p:nvSpPr>
          <p:cNvPr id="19" name="Chevron 18"/>
          <p:cNvSpPr/>
          <p:nvPr/>
        </p:nvSpPr>
        <p:spPr>
          <a:xfrm>
            <a:off x="6894576" y="5166360"/>
            <a:ext cx="256032" cy="274320"/>
          </a:xfrm>
          <a:prstGeom prst="chevron">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178040" y="4983480"/>
            <a:ext cx="2331720" cy="658368"/>
          </a:xfrm>
          <a:prstGeom prst="roundRect">
            <a:avLst/>
          </a:prstGeom>
          <a:solidFill>
            <a:srgbClr val="E2F0D9"/>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50" b="1">
                <a:solidFill>
                  <a:srgbClr val="002060"/>
                </a:solidFill>
                <a:latin typeface="Calibri"/>
              </a:rPr>
              <a:t>Screening prioritisation</a:t>
            </a:r>
          </a:p>
        </p:txBody>
      </p:sp>
      <p:sp>
        <p:nvSpPr>
          <p:cNvPr id="21" name="Chevron 20"/>
          <p:cNvSpPr/>
          <p:nvPr/>
        </p:nvSpPr>
        <p:spPr>
          <a:xfrm>
            <a:off x="9546335" y="5166360"/>
            <a:ext cx="256032" cy="274320"/>
          </a:xfrm>
          <a:prstGeom prst="chevron">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829800" y="4983480"/>
            <a:ext cx="2148840" cy="658368"/>
          </a:xfrm>
          <a:prstGeom prst="roundRect">
            <a:avLst/>
          </a:prstGeom>
          <a:solidFill>
            <a:srgbClr val="D9F0F7"/>
          </a:solidFill>
          <a:ln w="15240">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250" b="1">
                <a:solidFill>
                  <a:srgbClr val="002060"/>
                </a:solidFill>
                <a:latin typeface="Calibri"/>
              </a:rPr>
              <a:t>Professional review</a:t>
            </a:r>
          </a:p>
        </p:txBody>
      </p:sp>
      <p:sp>
        <p:nvSpPr>
          <p:cNvPr id="23" name="Rounded Rectangle 22"/>
          <p:cNvSpPr/>
          <p:nvPr/>
        </p:nvSpPr>
        <p:spPr>
          <a:xfrm>
            <a:off x="320040" y="5742432"/>
            <a:ext cx="5623560" cy="566928"/>
          </a:xfrm>
          <a:prstGeom prst="roundRect">
            <a:avLst/>
          </a:prstGeom>
          <a:solidFill>
            <a:srgbClr val="D9F0F7"/>
          </a:solidFill>
          <a:ln>
            <a:solidFill>
              <a:srgbClr val="9FD8ED"/>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150" b="1">
                <a:solidFill>
                  <a:srgbClr val="002060"/>
                </a:solidFill>
                <a:latin typeface="Calibri"/>
              </a:rPr>
              <a:t>Business value: earlier identification • better screening-resource prioritisation • targeted preventive support</a:t>
            </a:r>
          </a:p>
        </p:txBody>
      </p:sp>
      <p:sp>
        <p:nvSpPr>
          <p:cNvPr id="24" name="Rounded Rectangle 23"/>
          <p:cNvSpPr/>
          <p:nvPr/>
        </p:nvSpPr>
        <p:spPr>
          <a:xfrm>
            <a:off x="6080760" y="5742432"/>
            <a:ext cx="5806440" cy="566928"/>
          </a:xfrm>
          <a:prstGeom prst="roundRect">
            <a:avLst/>
          </a:prstGeom>
          <a:solidFill>
            <a:srgbClr val="F0D8F2"/>
          </a:solidFill>
          <a:ln>
            <a:solidFill>
              <a:srgbClr val="FF5BA7"/>
            </a:solidFill>
          </a:ln>
        </p:spPr>
        <p:style>
          <a:lnRef idx="1">
            <a:schemeClr val="accent1"/>
          </a:lnRef>
          <a:fillRef idx="3">
            <a:schemeClr val="accent1"/>
          </a:fillRef>
          <a:effectRef idx="2">
            <a:schemeClr val="accent1"/>
          </a:effectRef>
          <a:fontRef idx="minor">
            <a:schemeClr val="lt1"/>
          </a:fontRef>
        </p:style>
        <p:txBody>
          <a:bodyPr wrap="square" rtlCol="0" anchor="t"/>
          <a:lstStyle/>
          <a:p>
            <a:pPr algn="ctr"/>
            <a:r>
              <a:rPr sz="1120" b="1" dirty="0">
                <a:solidFill>
                  <a:srgbClr val="7030A0"/>
                </a:solidFill>
                <a:latin typeface="Calibri"/>
              </a:rPr>
              <a:t>Important: Decision-support tool only — not a clinical diagnosis; final decisions remain with healthcare professionals.</a:t>
            </a:r>
          </a:p>
        </p:txBody>
      </p:sp>
    </p:spTree>
    <p:extLst>
      <p:ext uri="{BB962C8B-B14F-4D97-AF65-F5344CB8AC3E}">
        <p14:creationId xmlns:p14="http://schemas.microsoft.com/office/powerpoint/2010/main" val="75405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3E5176EB-726E-939A-22CE-3A9E3B79B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CD0D3-4408-C76F-3F72-7B8439F5FB3A}"/>
              </a:ext>
            </a:extLst>
          </p:cNvPr>
          <p:cNvSpPr>
            <a:spLocks noGrp="1"/>
          </p:cNvSpPr>
          <p:nvPr>
            <p:ph type="title"/>
          </p:nvPr>
        </p:nvSpPr>
        <p:spPr>
          <a:xfrm>
            <a:off x="293914" y="97971"/>
            <a:ext cx="11765280" cy="410726"/>
          </a:xfrm>
        </p:spPr>
        <p:txBody>
          <a:bodyPr>
            <a:noAutofit/>
          </a:bodyPr>
          <a:lstStyle/>
          <a:p>
            <a:r>
              <a:rPr lang="en-SG" sz="2200" b="1" dirty="0">
                <a:solidFill>
                  <a:srgbClr val="002060"/>
                </a:solidFill>
              </a:rPr>
              <a:t>		</a:t>
            </a: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br>
              <a:rPr lang="en-SG" sz="2200" b="1" dirty="0">
                <a:solidFill>
                  <a:srgbClr val="002060"/>
                </a:solidFill>
              </a:rPr>
            </a:br>
            <a:r>
              <a:rPr lang="en-SG" sz="2200" b="1" dirty="0">
                <a:solidFill>
                  <a:srgbClr val="002060"/>
                </a:solidFill>
              </a:rPr>
              <a:t>                                    BUSINESS INSIGHTS, ACTIONS &amp; RECOMMENDATIONS</a:t>
            </a:r>
          </a:p>
        </p:txBody>
      </p:sp>
      <p:sp>
        <p:nvSpPr>
          <p:cNvPr id="17" name="Content Placeholder 16">
            <a:extLst>
              <a:ext uri="{FF2B5EF4-FFF2-40B4-BE49-F238E27FC236}">
                <a16:creationId xmlns:a16="http://schemas.microsoft.com/office/drawing/2014/main" id="{DF0A66F2-655E-1384-41F4-99F2B11DD10A}"/>
              </a:ext>
            </a:extLst>
          </p:cNvPr>
          <p:cNvSpPr>
            <a:spLocks noGrp="1"/>
          </p:cNvSpPr>
          <p:nvPr>
            <p:ph sz="quarter" idx="12"/>
          </p:nvPr>
        </p:nvSpPr>
        <p:spPr>
          <a:xfrm>
            <a:off x="117565" y="636224"/>
            <a:ext cx="11941629" cy="5960519"/>
          </a:xfrm>
          <a:ln w="12700">
            <a:solidFill>
              <a:srgbClr val="7030A0"/>
            </a:solidFill>
          </a:ln>
        </p:spPr>
        <p:txBody>
          <a:bodyPr>
            <a:normAutofit lnSpcReduction="10000"/>
          </a:bodyPr>
          <a:lstStyle/>
          <a:p>
            <a:r>
              <a:rPr lang="en-SG" b="1" dirty="0" err="1">
                <a:solidFill>
                  <a:srgbClr val="7030A0"/>
                </a:solidFill>
                <a:latin typeface="Calibri" panose="020F0502020204030204" pitchFamily="34" charset="0"/>
                <a:ea typeface="Calibri" panose="020F0502020204030204" pitchFamily="34" charset="0"/>
                <a:cs typeface="Calibri" panose="020F0502020204030204" pitchFamily="34" charset="0"/>
              </a:rPr>
              <a:t>XGBoost</a:t>
            </a:r>
            <a:r>
              <a:rPr lang="en-SG" b="1" dirty="0">
                <a:solidFill>
                  <a:srgbClr val="7030A0"/>
                </a:solidFill>
                <a:latin typeface="Calibri" panose="020F0502020204030204" pitchFamily="34" charset="0"/>
                <a:ea typeface="Calibri" panose="020F0502020204030204" pitchFamily="34" charset="0"/>
                <a:cs typeface="Calibri" panose="020F0502020204030204" pitchFamily="34" charset="0"/>
              </a:rPr>
              <a:t> identifies a combination of health, lifestyle, and demographic indicators as important signals for the positive prediabetes/diabetes class.</a:t>
            </a:r>
          </a:p>
          <a:p>
            <a:pPr marL="285750" indent="-285750">
              <a:buFont typeface="Wingdings" panose="05000000000000000000" pitchFamily="2" charset="2"/>
              <a:buChar char="§"/>
            </a:pPr>
            <a:r>
              <a:rPr lang="en-SG" sz="1600" b="1" dirty="0"/>
              <a:t>BMI</a:t>
            </a:r>
            <a:r>
              <a:rPr lang="en-SG" sz="1600" dirty="0"/>
              <a:t> was the strongest feature in </a:t>
            </a:r>
            <a:r>
              <a:rPr lang="en-SG" sz="1600" dirty="0" err="1"/>
              <a:t>XGBoost</a:t>
            </a:r>
            <a:r>
              <a:rPr lang="en-SG" sz="1600" dirty="0"/>
              <a:t> built-in feature importance. </a:t>
            </a:r>
          </a:p>
          <a:p>
            <a:pPr marL="285750" indent="-285750">
              <a:buFont typeface="Wingdings" panose="05000000000000000000" pitchFamily="2" charset="2"/>
              <a:buChar char="§"/>
            </a:pPr>
            <a:r>
              <a:rPr lang="en-SG" sz="1600" b="1" dirty="0" err="1"/>
              <a:t>GenHlth</a:t>
            </a:r>
            <a:r>
              <a:rPr lang="en-SG" sz="1600" b="1" dirty="0"/>
              <a:t>, BMI, and Age</a:t>
            </a:r>
            <a:r>
              <a:rPr lang="en-SG" sz="1600" dirty="0"/>
              <a:t> were among the strongest features in permutation importance.</a:t>
            </a:r>
          </a:p>
          <a:p>
            <a:pPr marL="285750" indent="-285750">
              <a:buFont typeface="Wingdings" panose="05000000000000000000" pitchFamily="2" charset="2"/>
              <a:buChar char="§"/>
            </a:pPr>
            <a:r>
              <a:rPr lang="en-SG" sz="1600" b="1" dirty="0"/>
              <a:t>Stroke, </a:t>
            </a:r>
            <a:r>
              <a:rPr lang="en-SG" sz="1600" b="1" dirty="0" err="1"/>
              <a:t>PhysHlth</a:t>
            </a:r>
            <a:r>
              <a:rPr lang="en-SG" sz="1600" b="1" dirty="0"/>
              <a:t>, BMI and Age</a:t>
            </a:r>
            <a:r>
              <a:rPr lang="en-SG" sz="1600" dirty="0"/>
              <a:t> had the largest overall SHAP contributions. </a:t>
            </a:r>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pPr marL="285750" indent="-285750">
              <a:buFont typeface="Wingdings" panose="05000000000000000000" pitchFamily="2" charset="2"/>
              <a:buChar char="§"/>
            </a:pPr>
            <a:endParaRPr lang="en-SG" sz="1600" dirty="0"/>
          </a:p>
          <a:p>
            <a:endParaRPr lang="en-SG" sz="1600" dirty="0"/>
          </a:p>
          <a:p>
            <a:pPr marL="285750" indent="-285750">
              <a:buFont typeface="Wingdings" panose="05000000000000000000" pitchFamily="2" charset="2"/>
              <a:buChar char="§"/>
            </a:pPr>
            <a:r>
              <a:rPr lang="en-SG" sz="1600" dirty="0"/>
              <a:t>Use </a:t>
            </a:r>
            <a:r>
              <a:rPr lang="en-SG" sz="1600" dirty="0" err="1"/>
              <a:t>XGBoost</a:t>
            </a:r>
            <a:r>
              <a:rPr lang="en-SG" sz="1600" dirty="0"/>
              <a:t> to </a:t>
            </a:r>
            <a:r>
              <a:rPr lang="en-SG" sz="1600" b="1" dirty="0"/>
              <a:t>prioritise individuals for further screening and preventive intervention</a:t>
            </a:r>
            <a:r>
              <a:rPr lang="en-SG" sz="1600" dirty="0"/>
              <a:t>, while keeping healthcare professionals involved in the final decision.</a:t>
            </a:r>
          </a:p>
          <a:p>
            <a:pPr marL="285750" indent="-285750">
              <a:buFont typeface="Wingdings" panose="05000000000000000000" pitchFamily="2" charset="2"/>
              <a:buChar char="§"/>
            </a:pPr>
            <a:r>
              <a:rPr lang="en-SG" sz="1600" dirty="0"/>
              <a:t>SHAP and feature importance indicate model associations/contributions, not clinical causation or diagnosis.</a:t>
            </a:r>
          </a:p>
          <a:p>
            <a:pPr marL="285750" indent="-285750">
              <a:buFont typeface="Wingdings" panose="05000000000000000000" pitchFamily="2" charset="2"/>
              <a:buChar char="§"/>
            </a:pPr>
            <a:r>
              <a:rPr lang="en-SG" sz="1600" dirty="0"/>
              <a:t>Combine data-driven screening prioritisation with preventive healthcare and professional clinical assessment rather than using the model as a standalone diagnostic tool.</a:t>
            </a:r>
          </a:p>
          <a:p>
            <a:endParaRPr lang="en-SG" sz="1600" dirty="0">
              <a:latin typeface="Calibri" panose="020F0502020204030204" pitchFamily="34" charset="0"/>
              <a:ea typeface="Calibri" panose="020F0502020204030204" pitchFamily="34" charset="0"/>
              <a:cs typeface="Calibri" panose="020F0502020204030204" pitchFamily="34" charset="0"/>
            </a:endParaRPr>
          </a:p>
          <a:p>
            <a:endParaRPr lang="en-SG" sz="16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52CDE74E-6039-080B-C761-3346D6052D29}"/>
              </a:ext>
            </a:extLst>
          </p:cNvPr>
          <p:cNvPicPr>
            <a:picLocks noChangeAspect="1"/>
          </p:cNvPicPr>
          <p:nvPr/>
        </p:nvPicPr>
        <p:blipFill>
          <a:blip r:embed="rId2"/>
          <a:stretch>
            <a:fillRect/>
          </a:stretch>
        </p:blipFill>
        <p:spPr>
          <a:xfrm>
            <a:off x="291736" y="2398960"/>
            <a:ext cx="11593286" cy="2804411"/>
          </a:xfrm>
          <a:prstGeom prst="rect">
            <a:avLst/>
          </a:prstGeom>
        </p:spPr>
      </p:pic>
    </p:spTree>
    <p:extLst>
      <p:ext uri="{BB962C8B-B14F-4D97-AF65-F5344CB8AC3E}">
        <p14:creationId xmlns:p14="http://schemas.microsoft.com/office/powerpoint/2010/main" val="609372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101732C-7338-DBA0-BD19-1FA88304749F}"/>
              </a:ext>
            </a:extLst>
          </p:cNvPr>
          <p:cNvSpPr>
            <a:spLocks noGrp="1"/>
          </p:cNvSpPr>
          <p:nvPr>
            <p:ph type="title"/>
          </p:nvPr>
        </p:nvSpPr>
        <p:spPr>
          <a:xfrm>
            <a:off x="1317614" y="690511"/>
            <a:ext cx="4964671" cy="5253089"/>
          </a:xfrm>
        </p:spPr>
        <p:txBody>
          <a:bodyPr/>
          <a:lstStyle/>
          <a:p>
            <a:r>
              <a:rPr lang="en-US" dirty="0">
                <a:solidFill>
                  <a:schemeClr val="tx1"/>
                </a:solidFill>
              </a:rPr>
              <a:t>Thank</a:t>
            </a:r>
            <a:br>
              <a:rPr lang="en-US" dirty="0">
                <a:solidFill>
                  <a:schemeClr val="tx1"/>
                </a:solidFill>
              </a:rPr>
            </a:br>
            <a:r>
              <a:rPr lang="en-US" dirty="0">
                <a:solidFill>
                  <a:schemeClr val="tx1"/>
                </a:solidFill>
              </a:rPr>
              <a:t>you</a:t>
            </a:r>
          </a:p>
        </p:txBody>
      </p:sp>
    </p:spTree>
    <p:extLst>
      <p:ext uri="{BB962C8B-B14F-4D97-AF65-F5344CB8AC3E}">
        <p14:creationId xmlns:p14="http://schemas.microsoft.com/office/powerpoint/2010/main" val="704370842"/>
      </p:ext>
    </p:extLst>
  </p:cSld>
  <p:clrMapOvr>
    <a:masterClrMapping/>
  </p:clrMapOvr>
</p:sld>
</file>

<file path=ppt/theme/theme1.xml><?xml version="1.0" encoding="utf-8"?>
<a:theme xmlns:a="http://schemas.openxmlformats.org/drawingml/2006/main" name="Custom">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M78544816_Win32_SL_V10" id="{8934A6D9-B969-498F-A646-4B502FD69C4E}" vid="{AA78C1C8-456D-41A9-83FC-BC8B9A8EE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B7358-0BCB-4DEB-B717-C1D7CC555F05}">
  <ds:schemaRefs>
    <ds:schemaRef ds:uri="http://schemas.microsoft.com/office/infopath/2007/PartnerControls"/>
    <ds:schemaRef ds:uri="http://schemas.microsoft.com/office/2006/documentManagement/types"/>
    <ds:schemaRef ds:uri="http://purl.org/dc/dcmitype/"/>
    <ds:schemaRef ds:uri="http://www.w3.org/XML/1998/namespace"/>
    <ds:schemaRef ds:uri="http://purl.org/dc/terms/"/>
    <ds:schemaRef ds:uri="http://purl.org/dc/elements/1.1/"/>
    <ds:schemaRef ds:uri="71af3243-3dd4-4a8d-8c0d-dd76da1f02a5"/>
    <ds:schemaRef ds:uri="http://schemas.microsoft.com/sharepoint/v3"/>
    <ds:schemaRef ds:uri="http://schemas.openxmlformats.org/package/2006/metadata/core-properties"/>
    <ds:schemaRef ds:uri="230e9df3-be65-4c73-a93b-d1236ebd677e"/>
    <ds:schemaRef ds:uri="16c05727-aa75-4e4a-9b5f-8a80a1165891"/>
    <ds:schemaRef ds:uri="http://schemas.microsoft.com/office/2006/metadata/propertie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{13173D28-41C7-476F-BDFB-F31EE67A4374}TF3977e381-cba5-49b1-ba43-b5d865517af907ebbda9_win32-372d4d6ae720</Template>
  <TotalTime>2671</TotalTime>
  <Words>3196</Words>
  <Application>Microsoft Office PowerPoint</Application>
  <PresentationFormat>Widescreen</PresentationFormat>
  <Paragraphs>360</Paragraphs>
  <Slides>19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Courier New</vt:lpstr>
      <vt:lpstr>Sagona Book</vt:lpstr>
      <vt:lpstr>Tisa Offc Serif Pro</vt:lpstr>
      <vt:lpstr>Univers Light</vt:lpstr>
      <vt:lpstr>Wingdings</vt:lpstr>
      <vt:lpstr>Custom</vt:lpstr>
      <vt:lpstr>Data Set :  CDC Diabetes Health Indicators</vt:lpstr>
      <vt:lpstr>PowerPoint Presentation</vt:lpstr>
      <vt:lpstr>BUSINESS PROBLEM</vt:lpstr>
      <vt:lpstr>PERSONA</vt:lpstr>
      <vt:lpstr>JOBS-TO-BE-DONE(JTBD) FRAMEWORK</vt:lpstr>
      <vt:lpstr>DATA SET – OVERVIEW</vt:lpstr>
      <vt:lpstr>DATA QUALITY &amp; DATA CLEANING</vt:lpstr>
      <vt:lpstr>DATA CLEANING – REFINED OUTPUT</vt:lpstr>
      <vt:lpstr>FEATURE ENGINEERING &amp; TRANSFORMATIONS</vt:lpstr>
      <vt:lpstr>     CLASS IMBALANCE HANDLING – COMPARING SAMPLING STRATEGIES </vt:lpstr>
      <vt:lpstr>MODEL SELECTION – JUSTIFICATION FOR FOUR CLASSIFICATION MODELS</vt:lpstr>
      <vt:lpstr>                                          MODEL PERFORMANCE COMPARISON The four classification models were evaluated using the selected Random Oversampling strategy and the same performance metrics.</vt:lpstr>
      <vt:lpstr>                                                                    GLOBAL FEATURE IMPORTANCE                                          XGBoost Model Interpretation – Key Predictive Features</vt:lpstr>
      <vt:lpstr>GLOBAL SHAP FEATURE IMPORTANCE– XGBoost</vt:lpstr>
      <vt:lpstr>SHAP BEESWARM PLOT – XGBoost</vt:lpstr>
      <vt:lpstr>SHAP WATERFALL: High-Risk Prediabetes/Diabetes Prediction</vt:lpstr>
      <vt:lpstr>PRACTICAL USE CASE – FROM PREDICTION TO ACTION</vt:lpstr>
      <vt:lpstr>                                             BUSINESS INSIGHTS, ACTIONS &amp;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Nagajothi Murugaiyan</dc:creator>
  <cp:lastModifiedBy>Nagajothi Murugaiyan</cp:lastModifiedBy>
  <cp:revision>93</cp:revision>
  <dcterms:created xsi:type="dcterms:W3CDTF">2026-06-06T13:12:57Z</dcterms:created>
  <dcterms:modified xsi:type="dcterms:W3CDTF">2026-09-19T10:28:51Z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